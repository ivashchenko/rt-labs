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95" r:id="rId5"/>
    <p:sldId id="296" r:id="rId6"/>
    <p:sldId id="297" r:id="rId7"/>
    <p:sldId id="298" r:id="rId8"/>
    <p:sldId id="299" r:id="rId9"/>
    <p:sldId id="260" r:id="rId10"/>
    <p:sldId id="265" r:id="rId11"/>
    <p:sldId id="266" r:id="rId12"/>
    <p:sldId id="267" r:id="rId13"/>
    <p:sldId id="261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8" r:id="rId27"/>
    <p:sldId id="308" r:id="rId28"/>
    <p:sldId id="30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282" r:id="rId38"/>
    <p:sldId id="283" r:id="rId39"/>
    <p:sldId id="287" r:id="rId40"/>
    <p:sldId id="284" r:id="rId41"/>
    <p:sldId id="289" r:id="rId42"/>
    <p:sldId id="285" r:id="rId43"/>
    <p:sldId id="286" r:id="rId44"/>
    <p:sldId id="290" r:id="rId45"/>
    <p:sldId id="291" r:id="rId46"/>
    <p:sldId id="292" r:id="rId47"/>
    <p:sldId id="293" r:id="rId4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85B7F32-FD0F-250C-7E74-37EF4440D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CFBF913-5948-8DE7-F032-1DB1FDCF6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75A61E9-AAFB-AE4A-4ADE-E82CBD31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A62F952-8354-0AAE-3BA2-F5D9FA7E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11170B2C-4177-4E05-5384-19664FF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6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94174F-A9F4-C0C3-943D-8482DD29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ABCA347-EF25-47AD-4CB9-A1B1DD0C4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621AD27-35E6-4B6A-B086-A2BD6EDF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0CC9FD5-EDA9-1C1F-DF5C-D9371DC2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87F5646D-3C7C-55E6-AA73-8C4D57D52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75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9011E4E-5158-7B19-51D7-005C0D52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FE9A218-70E8-1640-5A06-69A0C35A1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5F6FB22-B575-A6CA-41FA-74904769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D97A805-998F-A216-0D86-C557669D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A2DE7E7-F968-EFCE-FBCC-083687BA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826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8F3732-5FF7-7D73-B4BA-909505156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5481D18-E7EB-001A-BFB4-938FEDC0EA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93DF3CB3-986C-F1EC-F422-AB3961FF6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515D51D-A80C-521B-0DE1-F8B213C7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3188053-7B7C-F3B9-324A-65192869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354682E-BFA6-0810-3D4A-5FD9A0E5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0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015F892-1619-CD2B-56BB-F9A108B8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C78DD866-E152-19D3-874C-154AEAADB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A2A4479-F2C2-1DC0-DD57-040E80C82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97EF4F99-68CF-2ABE-238B-343A90EAC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AEA883BB-3ED7-BA78-1A35-E6C993CBF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892EAE09-05C3-FAF5-C869-E810997C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FAAE9358-89D8-F7E1-3870-8AF08C869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2DA3C9F8-4C98-EBF4-4B53-EC74E5B58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21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21DD587-00CF-A04F-DE08-913E8604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F307FB5-484F-2D00-3978-F731A2160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C8675B6-08BB-0943-C07C-0C54AC68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20FC849-AD50-D9BF-1C70-E36EE62A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173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E0399D7D-8088-9185-EBD0-2B792BF0C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EB711B43-C0CB-8061-4A99-C5FDE6B4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5EBED415-9C06-2B0B-D2E5-B78167AF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07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DE3256E-2DAC-A6E7-4457-4A2B6AE5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22BB0CC-E65A-4B8D-9AEA-2AF2475B0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E9492EF-BFFB-A74F-2753-AEEA92094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265EE900-7A4D-B260-8596-72AC59CA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81808AF-CEE2-4A23-2061-83C99ACE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39B46AE-B090-8D3F-C658-A10028D2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7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DD2C79-A027-F697-33E7-E6820FEB2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0DC0E519-768C-396D-5865-2F28EF1DD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3238508-65DC-21E8-D683-BD14A4675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AF90023D-22F2-174D-CA12-BF03B23B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395D7B1-C5E0-DDA1-582D-6115BF98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2BE0E16-65E3-AC9C-C308-4B7A76E9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2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357A22E-0D3D-FFAD-04EB-E825FBAE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E99E9E1A-DA09-A888-ECCA-B546C6A69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942BD7D-8384-C7AE-EAE7-5860E915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D49374B8-3A96-118B-0281-CF673CF1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D6E0D69E-E097-4E41-7FCA-CEF41F9B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44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60EFAA2E-97AF-1F75-E70D-DC4B86D3F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2127C07D-6217-3C6F-A641-0E6B448D9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5A3E72C-F021-8FD5-7047-BE9E2CEE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2AB82D4-75F7-B9B6-11AE-5C4ACFC88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5279019-E142-E909-DD79-39EA3800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491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0E0A92-BB40-F636-DEBB-4317CA28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562F496-916C-64E1-0BB0-EE8A3D60B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7E7F516-BA18-2877-2203-D3F56C842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FBF78-9AC4-49FC-A37C-B368D3EA14EC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87FCEE7-4114-F5F0-0A6E-4F838EAED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E8411C4-E843-0CF1-ADEF-D1BF31CEE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E98C2-569A-41A0-BDA6-7E4DA828B8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48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0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511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30.png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0.png"/><Relationship Id="rId11" Type="http://schemas.openxmlformats.org/officeDocument/2006/relationships/image" Target="../media/image440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1.png"/><Relationship Id="rId7" Type="http://schemas.openxmlformats.org/officeDocument/2006/relationships/image" Target="../media/image54.png"/><Relationship Id="rId2" Type="http://schemas.openxmlformats.org/officeDocument/2006/relationships/image" Target="../media/image49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7.png"/><Relationship Id="rId5" Type="http://schemas.openxmlformats.org/officeDocument/2006/relationships/image" Target="../media/image510.png"/><Relationship Id="rId4" Type="http://schemas.openxmlformats.org/officeDocument/2006/relationships/image" Target="../media/image50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0.png"/><Relationship Id="rId5" Type="http://schemas.openxmlformats.org/officeDocument/2006/relationships/image" Target="../media/image102.png"/><Relationship Id="rId4" Type="http://schemas.openxmlformats.org/officeDocument/2006/relationships/image" Target="../media/image7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94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3DBEE5-A307-FC8A-0D36-DF812D8B90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Лаб. 18 Пассивные электрические цепи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4251BB6-813C-B807-45EF-D3531EBED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Семинар </a:t>
            </a:r>
            <a:r>
              <a:rPr lang="ru-RU" dirty="0" smtClean="0"/>
              <a:t>1</a:t>
            </a:r>
            <a:r>
              <a:rPr lang="en-US" dirty="0" smtClean="0"/>
              <a:t>7</a:t>
            </a:r>
            <a:r>
              <a:rPr lang="ru-RU" dirty="0" smtClean="0"/>
              <a:t>.1</a:t>
            </a:r>
            <a:r>
              <a:rPr lang="en-US" dirty="0" smtClean="0"/>
              <a:t>0</a:t>
            </a:r>
            <a:r>
              <a:rPr lang="ru-RU" dirty="0" smtClean="0"/>
              <a:t>.202</a:t>
            </a:r>
            <a:r>
              <a:rPr lang="en-US" dirty="0" smtClean="0"/>
              <a:t>6</a:t>
            </a:r>
            <a:r>
              <a:rPr lang="ru-RU" dirty="0" smtClean="0"/>
              <a:t> </a:t>
            </a:r>
            <a:endParaRPr lang="en-US" dirty="0"/>
          </a:p>
          <a:p>
            <a:endParaRPr lang="en-US" dirty="0"/>
          </a:p>
          <a:p>
            <a:r>
              <a:rPr lang="ru-RU" dirty="0" smtClean="0"/>
              <a:t>Иващенко О.В</a:t>
            </a:r>
            <a:r>
              <a:rPr lang="en-US" dirty="0" smtClean="0"/>
              <a:t> 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300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4CC02A3-F305-1A8C-FC3E-FF3FE0D0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занятия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9A8DFD4-8482-A077-C64E-8ECA1EB7A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Мат. аппарат лаб 18 является ключевым для дисциплин «радиотехника», «цифровая обработка сигналов»</a:t>
            </a:r>
            <a:endParaRPr lang="en-US" dirty="0"/>
          </a:p>
          <a:p>
            <a:r>
              <a:rPr lang="ru-RU" dirty="0"/>
              <a:t>Преодолеть неизбежный психологический барьер, получить (интуитивное) понимание используемого математического аппарата</a:t>
            </a:r>
          </a:p>
          <a:p>
            <a:pPr lvl="1"/>
            <a:r>
              <a:rPr lang="ru-RU" dirty="0"/>
              <a:t>Как пройденного (мат. анализ, </a:t>
            </a:r>
            <a:r>
              <a:rPr lang="ru-RU" dirty="0" err="1"/>
              <a:t>лин</a:t>
            </a:r>
            <a:r>
              <a:rPr lang="ru-RU" dirty="0"/>
              <a:t>. алгебра, </a:t>
            </a:r>
            <a:r>
              <a:rPr lang="ru-RU" dirty="0" err="1"/>
              <a:t>диф</a:t>
            </a:r>
            <a:r>
              <a:rPr lang="ru-RU" dirty="0"/>
              <a:t>. уравнения), так и перспективного (ТФКП)</a:t>
            </a:r>
          </a:p>
          <a:p>
            <a:r>
              <a:rPr lang="ru-RU" dirty="0"/>
              <a:t>Увидеть целостную картину, получить представление о ключевых методах анализа линейных эл. цепей и их взаимосвязь</a:t>
            </a:r>
          </a:p>
          <a:p>
            <a:r>
              <a:rPr lang="ru-RU" dirty="0"/>
              <a:t>Разобрать практический пример</a:t>
            </a:r>
          </a:p>
          <a:p>
            <a:r>
              <a:rPr lang="ru-RU" dirty="0"/>
              <a:t>Получить рекомендации по доп. литературе и источникам</a:t>
            </a:r>
          </a:p>
        </p:txBody>
      </p:sp>
    </p:spTree>
    <p:extLst>
      <p:ext uri="{BB962C8B-B14F-4D97-AF65-F5344CB8AC3E}">
        <p14:creationId xmlns:p14="http://schemas.microsoft.com/office/powerpoint/2010/main" val="394810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9FC7131-DB97-3875-B472-D43A97B7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FA4381F-6100-1D77-B0F2-65C6E93E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66"/>
            <a:ext cx="10515600" cy="468067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Математический ликбез</a:t>
            </a:r>
          </a:p>
          <a:p>
            <a:pPr lvl="1"/>
            <a:r>
              <a:rPr lang="ru-RU" dirty="0" smtClean="0"/>
              <a:t>Азы алгебры комплексных чисел</a:t>
            </a:r>
            <a:endParaRPr lang="ru-RU" dirty="0"/>
          </a:p>
          <a:p>
            <a:pPr lvl="1"/>
            <a:r>
              <a:rPr lang="ru-RU" dirty="0"/>
              <a:t>Элементы линейной алгебры</a:t>
            </a:r>
          </a:p>
          <a:p>
            <a:pPr lvl="1"/>
            <a:r>
              <a:rPr lang="ru-RU" dirty="0"/>
              <a:t>Ряды Фурье</a:t>
            </a:r>
          </a:p>
          <a:p>
            <a:pPr lvl="1"/>
            <a:r>
              <a:rPr lang="ru-RU" dirty="0"/>
              <a:t>Преобразование Фурье</a:t>
            </a:r>
          </a:p>
          <a:p>
            <a:r>
              <a:rPr lang="ru-RU" dirty="0"/>
              <a:t>Методы анализа линейных систем (на примере </a:t>
            </a:r>
            <a:r>
              <a:rPr lang="en-US" dirty="0"/>
              <a:t>RC-</a:t>
            </a:r>
            <a:r>
              <a:rPr lang="ru-RU" dirty="0"/>
              <a:t>цепи)</a:t>
            </a:r>
          </a:p>
          <a:p>
            <a:pPr lvl="1"/>
            <a:r>
              <a:rPr lang="ru-RU" dirty="0"/>
              <a:t>Дифференциальные уравнения</a:t>
            </a:r>
          </a:p>
          <a:p>
            <a:pPr lvl="1"/>
            <a:r>
              <a:rPr lang="ru-RU" dirty="0"/>
              <a:t>Интеграл Дюамеля (</a:t>
            </a:r>
            <a:r>
              <a:rPr lang="el-GR" dirty="0"/>
              <a:t>δ</a:t>
            </a:r>
            <a:r>
              <a:rPr lang="ru-RU" dirty="0"/>
              <a:t>-функция, импульсная и переходная х-</a:t>
            </a:r>
            <a:r>
              <a:rPr lang="ru-RU" dirty="0" err="1"/>
              <a:t>ки</a:t>
            </a:r>
            <a:r>
              <a:rPr lang="ru-RU" dirty="0"/>
              <a:t> цепи)</a:t>
            </a:r>
            <a:endParaRPr lang="en-US" dirty="0"/>
          </a:p>
          <a:p>
            <a:pPr lvl="1"/>
            <a:r>
              <a:rPr lang="ru-RU" dirty="0"/>
              <a:t>Спектральный анализ</a:t>
            </a:r>
          </a:p>
          <a:p>
            <a:pPr lvl="1"/>
            <a:r>
              <a:rPr lang="ru-RU" dirty="0"/>
              <a:t>Преобразование Лапласа</a:t>
            </a:r>
            <a:endParaRPr lang="en-US" dirty="0"/>
          </a:p>
          <a:p>
            <a:r>
              <a:rPr lang="ru-RU" dirty="0"/>
              <a:t>Элементы цифровой фильтрации</a:t>
            </a:r>
            <a:endParaRPr lang="en-US" dirty="0"/>
          </a:p>
          <a:p>
            <a:pPr lvl="1"/>
            <a:r>
              <a:rPr lang="ru-RU" dirty="0"/>
              <a:t>Сглаживание (</a:t>
            </a:r>
            <a:r>
              <a:rPr lang="en-US" dirty="0"/>
              <a:t>blur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Приложения</a:t>
            </a:r>
            <a:endParaRPr lang="en-US" dirty="0"/>
          </a:p>
          <a:p>
            <a:pPr lvl="1"/>
            <a:r>
              <a:rPr lang="ru-RU" dirty="0"/>
              <a:t>Список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279907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48835DE-9DF1-28B2-8995-69A01A7D1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1907"/>
            <a:ext cx="10515600" cy="560292"/>
          </a:xfrm>
        </p:spPr>
        <p:txBody>
          <a:bodyPr>
            <a:noAutofit/>
          </a:bodyPr>
          <a:lstStyle/>
          <a:p>
            <a:r>
              <a:rPr lang="ru-RU" sz="2400" dirty="0"/>
              <a:t>Мир сквозь «комплексные очки»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A7B0F63-1964-4A27-BE3B-51AAB5720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79" y="969485"/>
            <a:ext cx="8239701" cy="31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23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F594111-969B-5B74-B9A3-207CCDD3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461"/>
          </a:xfrm>
        </p:spPr>
        <p:txBody>
          <a:bodyPr>
            <a:normAutofit/>
          </a:bodyPr>
          <a:lstStyle/>
          <a:p>
            <a:r>
              <a:rPr lang="ru-RU" sz="2800" dirty="0"/>
              <a:t>Три лица одного числа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C6EB1CD-D156-2199-F6E0-418B575C5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09" y="1038340"/>
            <a:ext cx="5591955" cy="41915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991F6D20-9BB3-FA8D-243E-E9A4560EF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1955"/>
            <a:ext cx="4334480" cy="37629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27AE9508-572B-4332-B3C3-52202CA20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279" y="1669060"/>
            <a:ext cx="6201640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9BA3BC-965A-4CB0-49E6-BB7FDF9B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F228D562-5078-463F-E42F-B6945DD8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758" y="653176"/>
            <a:ext cx="8159876" cy="5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51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A0E7866-E6C4-69F4-8A56-F5E16E28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EE72630A-5B83-1B7E-65FD-45A5078C3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214" y="3289491"/>
            <a:ext cx="7657699" cy="237222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93BF1F0B-3A2C-4D1E-5738-E00D37C72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286" y="803298"/>
            <a:ext cx="9327428" cy="208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20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588E0B-3F40-AE9A-5B4F-5E142208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F23AB3E6-D16E-9E50-F305-550F289D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593" y="617808"/>
            <a:ext cx="1298275" cy="5391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F376C022-558A-DB85-63C0-C2A150B13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43" y="620393"/>
            <a:ext cx="1298275" cy="6218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7604DEF2-100F-4D32-4EFA-445B24B9E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3" y="1269601"/>
            <a:ext cx="2798378" cy="62186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8F19F362-877E-C516-34BC-C2426C003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72" y="1950258"/>
            <a:ext cx="2734049" cy="62186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F87DCF95-CE15-943C-5DEA-FAE761BA9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407" y="1269601"/>
            <a:ext cx="2798379" cy="57402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6723E62D-E459-B94D-90AA-00DB52823B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707" y="3717870"/>
            <a:ext cx="7996189" cy="219343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F269F13D-DDBD-F8B4-C85E-58F89C2D71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6896" y="360125"/>
            <a:ext cx="2455332" cy="80270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6679E7DC-2C70-4D35-919C-E14AB4DF61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4045" y="1403672"/>
            <a:ext cx="2798378" cy="487791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xmlns="" id="{AF8A0F0F-6DE5-C5F0-558B-125004E2C2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0739" y="2132306"/>
            <a:ext cx="2984989" cy="1250317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D8C6E0D1-6F2C-41FC-5C40-68DA5F801562}"/>
              </a:ext>
            </a:extLst>
          </p:cNvPr>
          <p:cNvSpPr/>
          <p:nvPr/>
        </p:nvSpPr>
        <p:spPr>
          <a:xfrm>
            <a:off x="3622898" y="620393"/>
            <a:ext cx="45719" cy="23651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A0186108-70F8-F459-FA14-C617C0742632}"/>
              </a:ext>
            </a:extLst>
          </p:cNvPr>
          <p:cNvSpPr/>
          <p:nvPr/>
        </p:nvSpPr>
        <p:spPr>
          <a:xfrm>
            <a:off x="7267645" y="550872"/>
            <a:ext cx="45719" cy="23651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xmlns="" id="{0CAB6492-E031-DD5F-F803-5723C06C48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4379" y="3623467"/>
            <a:ext cx="1881350" cy="566982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xmlns="" id="{888D916B-2541-798E-A0A8-3F5538B8FD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49845" y="4352100"/>
            <a:ext cx="1939115" cy="9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60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9A80F574-CBB6-4911-A4AC-8BEDC7CA69D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Основная идея: представление сигнала элементом векторного пространства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9A80F574-CBB6-4911-A4AC-8BEDC7CA6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CE20EC81-8BF2-45E4-88BE-F59086BC7E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Сигнал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-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это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N-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мерный вектор!!!</a:t>
                </a:r>
              </a:p>
              <a:p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!</a:t>
                </a:r>
              </a:p>
              <a:p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При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ru-RU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ru-RU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20EC81-8BF2-45E4-88BE-F59086BC7E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722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267CDDAC-3831-415B-B19C-BC89ACC227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67CDDAC-3831-415B-B19C-BC89ACC227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1AB189C7-21C2-474B-A86C-0BD51E656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Норма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dirty="0"/>
              </a:p>
              <a:p>
                <a:r>
                  <a:rPr lang="ru-RU" dirty="0"/>
                  <a:t>Расстояние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ru-RU" dirty="0"/>
              </a:p>
              <a:p>
                <a:r>
                  <a:rPr lang="ru-RU" dirty="0"/>
                  <a:t>Скалярное произведение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Коэффициент корреляции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⟨"/>
                            <m:endChr m:val="⟩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ad>
                          <m:radPr>
                            <m:degHide m:val="on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AB189C7-21C2-474B-A86C-0BD51E656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4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39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267CDDAC-3831-415B-B19C-BC89ACC227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67CDDAC-3831-415B-B19C-BC89ACC227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1AB189C7-21C2-474B-A86C-0BD51E656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8040" y="1825625"/>
                <a:ext cx="10515600" cy="4351338"/>
              </a:xfrm>
            </p:spPr>
            <p:txBody>
              <a:bodyPr/>
              <a:lstStyle/>
              <a:p>
                <a:r>
                  <a:rPr lang="ru-RU" dirty="0"/>
                  <a:t>Норма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dirty="0"/>
              </a:p>
              <a:p>
                <a:r>
                  <a:rPr lang="ru-RU" dirty="0"/>
                  <a:t>Расстояние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ru-RU" dirty="0"/>
              </a:p>
              <a:p>
                <a:r>
                  <a:rPr lang="ru-RU" dirty="0"/>
                  <a:t>Скалярное произведение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ru-RU" dirty="0"/>
                  <a:t>Коэффициент корреляции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⟨"/>
                            <m:endChr m:val="⟩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ad>
                          <m:radPr>
                            <m:degHide m:val="on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ru-RU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AB189C7-21C2-474B-A86C-0BD51E656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8040" y="1825625"/>
                <a:ext cx="10515600" cy="4351338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567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267CDDAC-3831-415B-B19C-BC89ACC227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простран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тво функций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67CDDAC-3831-415B-B19C-BC89ACC227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6">
                <a:extLst>
                  <a:ext uri="{FF2B5EF4-FFF2-40B4-BE49-F238E27FC236}">
                    <a16:creationId xmlns:a16="http://schemas.microsoft.com/office/drawing/2014/main" xmlns="" id="{DD62903F-62A2-4305-A8E1-09FE2021734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36320" y="1564640"/>
              <a:ext cx="10231120" cy="460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57780">
                      <a:extLst>
                        <a:ext uri="{9D8B030D-6E8A-4147-A177-3AD203B41FA5}">
                          <a16:colId xmlns:a16="http://schemas.microsoft.com/office/drawing/2014/main" xmlns="" val="550230190"/>
                        </a:ext>
                      </a:extLst>
                    </a:gridCol>
                    <a:gridCol w="3126175">
                      <a:extLst>
                        <a:ext uri="{9D8B030D-6E8A-4147-A177-3AD203B41FA5}">
                          <a16:colId xmlns:a16="http://schemas.microsoft.com/office/drawing/2014/main" xmlns="" val="3268552084"/>
                        </a:ext>
                      </a:extLst>
                    </a:gridCol>
                    <a:gridCol w="4547165">
                      <a:extLst>
                        <a:ext uri="{9D8B030D-6E8A-4147-A177-3AD203B41FA5}">
                          <a16:colId xmlns:a16="http://schemas.microsoft.com/office/drawing/2014/main" xmlns="" val="2940426677"/>
                        </a:ext>
                      </a:extLst>
                    </a:gridCol>
                  </a:tblGrid>
                  <a:tr h="15170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Норма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bSup>
                                          <m:sSubSupPr>
                                            <m:ctrlPr>
                                              <a:rPr lang="en-US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0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en-US" i="0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dirty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limLoc m:val="undOvr"/>
                                        <m:grow m:val="on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p>
                                            <m:r>
                                              <a:rPr lang="en-US" i="0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b="0" i="0" dirty="0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dirty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  <m:r>
                                          <a:rPr lang="en-US" b="0" i="0" dirty="0" smtClean="0">
                                            <a:latin typeface="Cambria Math" panose="02040503050406030204" pitchFamily="18" charset="0"/>
                                          </a:rPr>
                                          <m:t>)ⅆ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489914178"/>
                      </a:ext>
                    </a:extLst>
                  </a:tr>
                  <a:tr h="18761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Расстояние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US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Sup>
                                              <m:sSubSup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 </m:t>
                                                </m:r>
                                              </m:sup>
                                            </m:sSubSup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ru-RU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  <m:r>
                                          <a:rPr lang="ru-RU" dirty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limLoc m:val="undOvr"/>
                                        <m:grow m:val="on"/>
                                        <m:ctrlP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/>
                                            <m:aln/>
                                          </m:r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b>
                                      <m:sup>
                                        <m: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ru-RU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𝑓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ru-RU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ru-RU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ru-RU" dirty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𝑔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ru-RU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ru-RU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𝑡</m:t>
                                                    </m:r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ru-RU" dirty="0">
                                            <a:latin typeface="Cambria Math" panose="02040503050406030204" pitchFamily="18" charset="0"/>
                                          </a:rPr>
                                          <m:t>ⅆ</m:t>
                                        </m:r>
                                        <m:r>
                                          <a:rPr lang="ru-RU" i="1" dirty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ru-RU" dirty="0"/>
                        </a:p>
                        <a:p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703267534"/>
                      </a:ext>
                    </a:extLst>
                  </a:tr>
                  <a:tr h="12092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Скалярное произведение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</m:sSubSup>
                                        <m:r>
                                          <a:rPr lang="en-US" i="0" dirty="0" smtClean="0">
                                            <a:latin typeface="Cambria Math" panose="02040503050406030204" pitchFamily="18" charset="0"/>
                                          </a:rPr>
                                          <m:t>⋅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</m:sup>
                                        </m:sSubSup>
                                      </m:e>
                                      <m:sup>
                                        <m:r>
                                          <a:rPr lang="ru-RU" b="0" i="1" dirty="0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0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b="0" i="0" dirty="0" smtClean="0"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nary>
                                  <m:naryPr>
                                    <m:limLoc m:val="undOvr"/>
                                    <m:grow m:val="on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938406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6">
                <a:extLst>
                  <a:ext uri="{FF2B5EF4-FFF2-40B4-BE49-F238E27FC236}">
                    <a16:creationId xmlns:a16="http://schemas.microsoft.com/office/drawing/2014/main" id="{DD62903F-62A2-4305-A8E1-09FE202173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0431970"/>
                  </p:ext>
                </p:extLst>
              </p:nvPr>
            </p:nvGraphicFramePr>
            <p:xfrm>
              <a:off x="1036320" y="1564640"/>
              <a:ext cx="10231120" cy="4602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57780">
                      <a:extLst>
                        <a:ext uri="{9D8B030D-6E8A-4147-A177-3AD203B41FA5}">
                          <a16:colId xmlns:a16="http://schemas.microsoft.com/office/drawing/2014/main" val="550230190"/>
                        </a:ext>
                      </a:extLst>
                    </a:gridCol>
                    <a:gridCol w="3126175">
                      <a:extLst>
                        <a:ext uri="{9D8B030D-6E8A-4147-A177-3AD203B41FA5}">
                          <a16:colId xmlns:a16="http://schemas.microsoft.com/office/drawing/2014/main" val="3268552084"/>
                        </a:ext>
                      </a:extLst>
                    </a:gridCol>
                    <a:gridCol w="4547165">
                      <a:extLst>
                        <a:ext uri="{9D8B030D-6E8A-4147-A177-3AD203B41FA5}">
                          <a16:colId xmlns:a16="http://schemas.microsoft.com/office/drawing/2014/main" val="2940426677"/>
                        </a:ext>
                      </a:extLst>
                    </a:gridCol>
                  </a:tblGrid>
                  <a:tr h="15170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Норма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1871" r="-145419" b="-2036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25067" b="-2036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9914178"/>
                      </a:ext>
                    </a:extLst>
                  </a:tr>
                  <a:tr h="18761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Расстояние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1871" t="-80844" r="-145419" b="-64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25067" t="-80844" b="-64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3267534"/>
                      </a:ext>
                    </a:extLst>
                  </a:tr>
                  <a:tr h="12092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Скалярное произведение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1871" t="-279899" r="-1454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25067" t="-2798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38406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7084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F06C1B-D41B-408F-9731-D72BE5D3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Скалярное произведение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EF729B5F-32AA-4E9E-AD4A-0D80EF0F72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4160"/>
                <a:ext cx="10515600" cy="485648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sz="2400" dirty="0"/>
                  <a:t>«Сила связи» между векторами, двойственность</a:t>
                </a:r>
              </a:p>
              <a:p>
                <a:r>
                  <a:rPr lang="ru-RU" sz="2400" dirty="0"/>
                  <a:t>Ортогональная проекция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𝑝𝑟</m:t>
                    </m:r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o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⟨"/>
                            <m:endChr m:val="⟩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Угол между векторами 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arccos</m:t>
                        </m:r>
                      </m:fName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0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ru-RU" sz="2000" i="1" dirty="0"/>
                  <a:t>Для глубоко понимания этой темы (и вообще, линейной алгебры) - см </a:t>
                </a:r>
                <a:r>
                  <a:rPr lang="en-US" sz="2000" i="1" dirty="0" err="1"/>
                  <a:t>youtube</a:t>
                </a:r>
                <a:r>
                  <a:rPr lang="en-US" sz="2000" i="1" dirty="0"/>
                  <a:t>-</a:t>
                </a:r>
                <a:r>
                  <a:rPr lang="ru-RU" sz="2000" i="1" dirty="0"/>
                  <a:t>канал</a:t>
                </a:r>
                <a:r>
                  <a:rPr lang="en-US" sz="2000" i="1" dirty="0"/>
                  <a:t> </a:t>
                </a:r>
                <a:r>
                  <a:rPr lang="ru-RU" sz="2000" i="1" dirty="0"/>
                  <a:t> </a:t>
                </a:r>
                <a:r>
                  <a:rPr lang="en-US" sz="2000" i="1" dirty="0"/>
                  <a:t>3Blue1Brown (</a:t>
                </a:r>
                <a:r>
                  <a:rPr lang="ru-RU" sz="2000" i="1" dirty="0"/>
                  <a:t>лекция 9</a:t>
                </a:r>
                <a:r>
                  <a:rPr lang="en-US" sz="2000" i="1" dirty="0"/>
                  <a:t>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29B5F-32AA-4E9E-AD4A-0D80EF0F72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4160"/>
                <a:ext cx="10515600" cy="4856480"/>
              </a:xfrm>
              <a:blipFill>
                <a:blip r:embed="rId2"/>
                <a:stretch>
                  <a:fillRect l="-928" t="-21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E6CA4472-58DE-4430-B47E-30130DA5B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816" y="1027906"/>
            <a:ext cx="3586984" cy="191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08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745D67D9-88F1-4951-8A6D-BDF5931CB4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Ортонормированный базис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45D67D9-88F1-4951-8A6D-BDF5931CB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26190127-1174-4AE8-9D1D-942E190F9C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sup>
                        </m:sSup>
                      </m:sub>
                    </m:sSub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ru-RU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0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6190127-1174-4AE8-9D1D-942E190F9C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75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745D67D9-88F1-4951-8A6D-BDF5931CB4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Ортонормированный базис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45D67D9-88F1-4951-8A6D-BDF5931CB4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26190127-1174-4AE8-9D1D-942E190F9C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‖"/>
                        <m:endChr m:val="‖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при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при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ru-RU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i="0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̅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проекция вектора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на 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6190127-1174-4AE8-9D1D-942E190F9C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983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77AA12E6-7A71-4EE9-B414-81DAED1377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Ортонормированный базис в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∁[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7AA12E6-7A71-4EE9-B414-81DAED137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3C8B06C1-D32D-4FF4-A8F4-ABA6427FAD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432560"/>
                <a:ext cx="10591800" cy="4744403"/>
              </a:xfrm>
            </p:spPr>
            <p:txBody>
              <a:bodyPr>
                <a:normAutofit fontScale="92500"/>
              </a:bodyPr>
              <a:lstStyle/>
              <a:p>
                <a:r>
                  <a:rPr lang="ru-RU" dirty="0"/>
                  <a:t>А нельзя ли ввести в пространство функций понятие базиса, так же, как оно вводится в векторное пространство?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bSup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0, 1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grow m:val="on"/>
                        <m:subHide m:val="on"/>
                        <m:supHide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  <m:aln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Sup>
                          <m:sSubSup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ru-RU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ru-RU" i="0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, тогда</m:t>
                    </m:r>
                  </m:oMath>
                </a14:m>
                <a:endParaRPr lang="ru-RU" b="0" dirty="0"/>
              </a:p>
              <a:p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ru-RU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0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ru-RU" i="0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ru-RU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ru-RU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ru-RU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ru-RU" dirty="0"/>
              </a:p>
              <a:p>
                <a:pPr>
                  <a:buFontTx/>
                  <a:buChar char="-"/>
                </a:pPr>
                <a:r>
                  <a:rPr lang="ru-RU" dirty="0"/>
                  <a:t>разложение функции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/>
                  <a:t> по базису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ru-RU" dirty="0"/>
                  <a:t>, где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ru-RU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ru-RU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nary>
                        <m:naryPr>
                          <m:limLoc m:val="undOvr"/>
                          <m:grow m:val="on"/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  <m:e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ru-RU" i="0" dirty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)ⅆ</m:t>
                          </m:r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C8B06C1-D32D-4FF4-A8F4-ABA6427FA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432560"/>
                <a:ext cx="10591800" cy="4744403"/>
              </a:xfrm>
              <a:blipFill>
                <a:blip r:embed="rId3"/>
                <a:stretch>
                  <a:fillRect l="-1036" t="-1928" r="-6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989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CB2D5CE-826B-4165-B243-28B856F7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9B975C75-5AAA-40C5-8BD0-577BC0E8B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func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func>
                        <m:r>
                          <a:rPr lang="ru-RU" i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func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,…</m:t>
                            </m:r>
                          </m:e>
                        </m:func>
                      </m:e>
                    </m:d>
                  </m:oMath>
                </a14:m>
                <a:r>
                  <a:rPr lang="ru-RU" dirty="0">
                    <a:latin typeface="Cambria Math" panose="02040503050406030204" pitchFamily="18" charset="0"/>
                  </a:rPr>
                  <a:t>- система функций, </a:t>
                </a:r>
                <a:r>
                  <a:rPr lang="ru-RU" dirty="0" err="1">
                    <a:latin typeface="Cambria Math" panose="02040503050406030204" pitchFamily="18" charset="0"/>
                  </a:rPr>
                  <a:t>ортонормированых</a:t>
                </a:r>
                <a:r>
                  <a:rPr lang="ru-RU" dirty="0">
                    <a:latin typeface="Cambria Math" panose="02040503050406030204" pitchFamily="18" charset="0"/>
                  </a:rPr>
                  <a:t> на </a:t>
                </a:r>
                <a:r>
                  <a:rPr lang="en-US" dirty="0">
                    <a:latin typeface="Cambria Math" panose="02040503050406030204" pitchFamily="18" charset="0"/>
                  </a:rPr>
                  <a:t>[-</a:t>
                </a:r>
                <a:r>
                  <a:rPr lang="el-GR" dirty="0">
                    <a:latin typeface="Cambria Math" panose="02040503050406030204" pitchFamily="18" charset="0"/>
                  </a:rPr>
                  <a:t>π</a:t>
                </a:r>
                <a:r>
                  <a:rPr lang="en-US" dirty="0">
                    <a:latin typeface="Cambria Math" panose="02040503050406030204" pitchFamily="18" charset="0"/>
                  </a:rPr>
                  <a:t>,</a:t>
                </a:r>
                <a:r>
                  <a:rPr lang="el-GR" dirty="0">
                    <a:latin typeface="Cambria Math" panose="02040503050406030204" pitchFamily="18" charset="0"/>
                  </a:rPr>
                  <a:t> π</a:t>
                </a:r>
                <a:r>
                  <a:rPr lang="en-US" dirty="0">
                    <a:latin typeface="Cambria Math" panose="02040503050406030204" pitchFamily="18" charset="0"/>
                  </a:rPr>
                  <a:t>]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fun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func>
                      <m:func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fun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ru-RU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func>
                      <m:func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  <m:r>
                          <a:rPr lang="en-US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func>
                          <m:func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ru-RU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𝑘𝑡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func>
                          <m:func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𝑘𝑡</m:t>
                                </m:r>
                              </m:e>
                            </m:d>
                          </m:e>
                        </m:func>
                        <m:r>
                          <a:rPr lang="en-US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75C75-5AAA-40C5-8BD0-577BC0E8B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238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CB2D5CE-826B-4165-B243-28B856F7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комплексный ряд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9B975C75-5AAA-40C5-8BD0-577BC0E8B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3520"/>
                <a:ext cx="10515600" cy="4683443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…,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𝑗𝑡</m:t>
                                </m:r>
                              </m:sup>
                            </m:s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𝑗𝑡</m:t>
                                </m:r>
                              </m:sup>
                            </m:s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u-RU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𝑗𝑡</m:t>
                            </m:r>
                          </m:sup>
                        </m:s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</a:rPr>
                  <a:t>Скалярное произведение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)⋅</m:t>
                        </m:r>
                        <m:acc>
                          <m:accPr>
                            <m:chr m:val="̅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acc>
                        <m:r>
                          <a:rPr lang="en-US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𝑗𝑘𝑡</m:t>
                            </m:r>
                          </m:sup>
                        </m:sSup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𝑗𝑘𝑡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ru-RU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𝑗𝑘𝑡</m:t>
                            </m:r>
                          </m:sup>
                        </m:s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</a:rPr>
                  <a:t>Если период не равен 2</a:t>
                </a:r>
                <a:r>
                  <a:rPr lang="en-US" dirty="0">
                    <a:latin typeface="Cambria Math" panose="02040503050406030204" pitchFamily="18" charset="0"/>
                  </a:rPr>
                  <a:t>π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=2</a:t>
                </a:r>
                <a:r>
                  <a:rPr lang="el-GR" dirty="0">
                    <a:latin typeface="Cambria Math" panose="02040503050406030204" pitchFamily="18" charset="0"/>
                  </a:rPr>
                  <a:t>π</a:t>
                </a:r>
                <a:r>
                  <a:rPr lang="en-US" dirty="0">
                    <a:latin typeface="Cambria Math" panose="02040503050406030204" pitchFamily="18" charset="0"/>
                  </a:rPr>
                  <a:t>/T):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sup>
                        </m:sSup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undOvr"/>
                        <m:grow m:val="on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ru-RU" dirty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𝑘𝑡</m:t>
                            </m:r>
                          </m:sup>
                        </m:s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r>
                  <a:rPr lang="ru-RU" dirty="0">
                    <a:latin typeface="Cambria Math" panose="02040503050406030204" pitchFamily="18" charset="0"/>
                  </a:rPr>
                  <a:t>амплитудный спектр</a:t>
                </a:r>
                <a:r>
                  <a:rPr lang="ru-RU" i="1" dirty="0">
                    <a:latin typeface="Cambria Math" panose="02040503050406030204" pitchFamily="18" charset="0"/>
                  </a:rPr>
                  <a:t>,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arg</a:t>
                </a:r>
                <a:r>
                  <a:rPr lang="en-US" i="1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) –</a:t>
                </a:r>
                <a:r>
                  <a:rPr lang="ru-RU" dirty="0">
                    <a:latin typeface="Cambria Math" panose="02040503050406030204" pitchFamily="18" charset="0"/>
                  </a:rPr>
                  <a:t>фазовый спектр</a:t>
                </a:r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75C75-5AAA-40C5-8BD0-577BC0E8B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3520"/>
                <a:ext cx="10515600" cy="4683443"/>
              </a:xfrm>
              <a:blipFill>
                <a:blip r:embed="rId2"/>
                <a:stretch>
                  <a:fillRect l="-928" t="-391" b="-1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568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78A5420-65BE-408B-8F9D-AFE1C97D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Дискретное преобразование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DFEE3A3A-10E1-4063-9D11-E9546B1FD2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- </a:t>
                </a:r>
                <a:r>
                  <a:rPr lang="en-US" dirty="0"/>
                  <a:t>N</a:t>
                </a:r>
                <a:r>
                  <a:rPr lang="ru-RU" dirty="0"/>
                  <a:t> отсчётов сигнала</a:t>
                </a:r>
              </a:p>
              <a:p>
                <a:r>
                  <a:rPr lang="ru-RU" dirty="0"/>
                  <a:t>Мы знаем: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 но каким должен быть вектор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?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lin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ru-RU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 smtClean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ru-RU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i="1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sub>
                            </m:sSub>
                            <m:r>
                              <a:rPr lang="ru-RU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i="1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,⋯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ru-RU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ru-RU" i="1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ru-RU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ru-RU" dirty="0"/>
                  <a:t>ДПФ: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p>
                    </m:sSup>
                  </m:oMath>
                </a14:m>
                <a:endParaRPr lang="ru-RU" dirty="0"/>
              </a:p>
              <a:p>
                <a:r>
                  <a:rPr lang="ru-RU" dirty="0"/>
                  <a:t>Обратное ДПФ: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FEE3A3A-10E1-4063-9D11-E9546B1FD2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87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496E78-FF77-4F4F-4169-E196CC94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4901"/>
          </a:xfrm>
        </p:spPr>
        <p:txBody>
          <a:bodyPr>
            <a:normAutofit/>
          </a:bodyPr>
          <a:lstStyle/>
          <a:p>
            <a:r>
              <a:rPr lang="ru-RU" sz="3200" dirty="0"/>
              <a:t>Спектр последовательности прямоугольных импульсов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EB6BBA36-9626-F5E4-D5C3-ABACF0D80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9863" y="1140072"/>
            <a:ext cx="1981200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Периодическая последовательность прямоугольных импульсов">
            <a:extLst>
              <a:ext uri="{FF2B5EF4-FFF2-40B4-BE49-F238E27FC236}">
                <a16:creationId xmlns:a16="http://schemas.microsoft.com/office/drawing/2014/main" xmlns="" id="{2FFEF5F1-A754-D74A-9D7B-BC8F43A6A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20997"/>
            <a:ext cx="7915275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EABAEC30-839D-FED2-89AC-1F230DB2A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72910"/>
            <a:ext cx="7349512" cy="2387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DFABC991-A59D-091B-4436-8801287CD380}"/>
                  </a:ext>
                </a:extLst>
              </p:cNvPr>
              <p:cNvSpPr txBox="1"/>
              <p:nvPr/>
            </p:nvSpPr>
            <p:spPr>
              <a:xfrm>
                <a:off x="838200" y="2436816"/>
                <a:ext cx="5484322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0" dirty="0"/>
                  <a:t>Спектр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ru-RU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– может быть представлен так: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FABC991-A59D-091B-4436-8801287CD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6816"/>
                <a:ext cx="5484322" cy="484043"/>
              </a:xfrm>
              <a:prstGeom prst="rect">
                <a:avLst/>
              </a:prstGeom>
              <a:blipFill>
                <a:blip r:embed="rId5"/>
                <a:stretch>
                  <a:fillRect l="-1001" b="-88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28">
            <a:extLst>
              <a:ext uri="{FF2B5EF4-FFF2-40B4-BE49-F238E27FC236}">
                <a16:creationId xmlns:a16="http://schemas.microsoft.com/office/drawing/2014/main" xmlns="" id="{B7998909-A94D-CF14-BFA4-9768CE3A23A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200" y="5349776"/>
            <a:ext cx="9359900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Спектр периодической последовательности прямоугольных импульсов представляет собой множество гармоник с огибающей вида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ru-RU" altLang="ru-RU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              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53" name="Picture 29" descr="S(\omega) =  A  \, \frac{\sin \left(\omega \tau/2 \right) }{\omega T/2}">
            <a:extLst>
              <a:ext uri="{FF2B5EF4-FFF2-40B4-BE49-F238E27FC236}">
                <a16:creationId xmlns:a16="http://schemas.microsoft.com/office/drawing/2014/main" xmlns="" id="{4234E344-B8A0-B074-4FF7-29DA9835A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313" y="5696025"/>
            <a:ext cx="1892300" cy="408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983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C00BB39-3605-0CBF-AF9D-4BA2AEC4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Примеры спектров послед. прямоугольных импульсов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D9D2E9B-C5EB-57EE-0716-706E96D9F6A5}"/>
              </a:ext>
            </a:extLst>
          </p:cNvPr>
          <p:cNvSpPr txBox="1"/>
          <p:nvPr/>
        </p:nvSpPr>
        <p:spPr>
          <a:xfrm>
            <a:off x="9271000" y="5994400"/>
            <a:ext cx="219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https://ru.dsplib.org/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16E3425D-9889-9C97-6A0C-5098D3472D87}"/>
                  </a:ext>
                </a:extLst>
              </p:cNvPr>
              <p:cNvSpPr txBox="1"/>
              <p:nvPr/>
            </p:nvSpPr>
            <p:spPr>
              <a:xfrm>
                <a:off x="8678570" y="5028830"/>
                <a:ext cx="331046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Вопросы для самопроверки: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- ?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 - ?</a:t>
                </a:r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E3425D-9889-9C97-6A0C-5098D347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570" y="5028830"/>
                <a:ext cx="3310466" cy="923330"/>
              </a:xfrm>
              <a:prstGeom prst="rect">
                <a:avLst/>
              </a:prstGeom>
              <a:blipFill>
                <a:blip r:embed="rId2"/>
                <a:stretch>
                  <a:fillRect l="-1657" t="-3974" b="-99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E13ABDFE-0760-11FF-3F80-CA3F96695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024467"/>
            <a:ext cx="7219950" cy="5638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6BFDD0F0-EE04-5FD1-DDD9-340F10F12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570" y="893383"/>
            <a:ext cx="1781439" cy="1548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5F7666DC-0BA7-FDE6-CD0C-868902930D07}"/>
                  </a:ext>
                </a:extLst>
              </p:cNvPr>
              <p:cNvSpPr txBox="1"/>
              <p:nvPr/>
            </p:nvSpPr>
            <p:spPr>
              <a:xfrm>
                <a:off x="8756121" y="2525991"/>
                <a:ext cx="1926681" cy="393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скважность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7666DC-0BA7-FDE6-CD0C-868902930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121" y="2525991"/>
                <a:ext cx="1926681" cy="393313"/>
              </a:xfrm>
              <a:prstGeom prst="rect">
                <a:avLst/>
              </a:prstGeom>
              <a:blipFill>
                <a:blip r:embed="rId5"/>
                <a:stretch>
                  <a:fillRect l="-5380" t="-4615" r="-7278" b="-215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842E244-82FD-3180-9AF5-50209B2619C6}"/>
              </a:ext>
            </a:extLst>
          </p:cNvPr>
          <p:cNvSpPr txBox="1"/>
          <p:nvPr/>
        </p:nvSpPr>
        <p:spPr>
          <a:xfrm>
            <a:off x="8678570" y="3062026"/>
            <a:ext cx="3022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 радиолокации – С. это отношение максимальной мощности в импульсе к средней мощности источника, важный показатель работы импульсных радиоэлектронных систем. С. импульсов в радиолокационных станциях может достигать тысяч.</a:t>
            </a:r>
          </a:p>
        </p:txBody>
      </p:sp>
    </p:spTree>
    <p:extLst>
      <p:ext uri="{BB962C8B-B14F-4D97-AF65-F5344CB8AC3E}">
        <p14:creationId xmlns:p14="http://schemas.microsoft.com/office/powerpoint/2010/main" val="1001287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07CCE3C-64FC-4BB7-10E1-0A0729EA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0033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Переход к непериодическим сигналам</a:t>
            </a:r>
          </a:p>
        </p:txBody>
      </p:sp>
      <p:pic>
        <p:nvPicPr>
          <p:cNvPr id="1026" name="Picture 2" descr="Амплитудный спектр  периодической последовательности прямоугольных импульсов   при увеличении периода повторения ">
            <a:extLst>
              <a:ext uri="{FF2B5EF4-FFF2-40B4-BE49-F238E27FC236}">
                <a16:creationId xmlns:a16="http://schemas.microsoft.com/office/drawing/2014/main" xmlns="" id="{50C48E18-0C3F-8DAB-96E7-F02C65600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56" y="1194100"/>
            <a:ext cx="6807454" cy="529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5FEA3CD-F38E-9AF1-80B0-E16D25B596D4}"/>
                  </a:ext>
                </a:extLst>
              </p:cNvPr>
              <p:cNvSpPr txBox="1"/>
              <p:nvPr/>
            </p:nvSpPr>
            <p:spPr>
              <a:xfrm>
                <a:off x="7916333" y="1134532"/>
                <a:ext cx="3646243" cy="494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При увеличении периода T, гармоники спектра 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ru-RU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ru-RU" sz="1600" dirty="0"/>
                  <a:t> приближаются друг к другу, потому что расстояние между гармониками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6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обратно пропорционально периоду T. Амплитуды гармоник при этом уменьшаются из-за уменьшения средней мощности сигнала на одном периоде повторения.</a:t>
                </a:r>
              </a:p>
              <a:p>
                <a:endParaRPr lang="ru-RU" sz="1600" dirty="0"/>
              </a:p>
              <a:p>
                <a:r>
                  <a:rPr lang="ru-RU" sz="1600" dirty="0"/>
                  <a:t>При увеличении периода повторения T до бесконечности, периодический сигнал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ru-RU" sz="160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ru-RU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sz="1600" dirty="0"/>
                  <a:t> становится непериодическим, расстояние между гармониками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6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/>
                  <a:t>уменьшатся до нуля (дискретные гармоники сольются в одну сплошную линию), а амплитуды гармоник уменьшатся до бесконечно-малых значений.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FEA3CD-F38E-9AF1-80B0-E16D25B59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333" y="1134532"/>
                <a:ext cx="3646243" cy="4944535"/>
              </a:xfrm>
              <a:prstGeom prst="rect">
                <a:avLst/>
              </a:prstGeom>
              <a:blipFill>
                <a:blip r:embed="rId3"/>
                <a:stretch>
                  <a:fillRect l="-1003" t="-370" r="-5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996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98E13F-7A46-78C0-F710-ADDFB01F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Преобразование Фурье</a:t>
            </a:r>
          </a:p>
        </p:txBody>
      </p:sp>
      <p:pic>
        <p:nvPicPr>
          <p:cNvPr id="2050" name="Picture 2" descr="equation 2">
            <a:extLst>
              <a:ext uri="{FF2B5EF4-FFF2-40B4-BE49-F238E27FC236}">
                <a16:creationId xmlns:a16="http://schemas.microsoft.com/office/drawing/2014/main" xmlns="" id="{4B974C09-9E9A-5165-5F68-A51B4632F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63" y="1329266"/>
            <a:ext cx="433387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quation 3">
            <a:extLst>
              <a:ext uri="{FF2B5EF4-FFF2-40B4-BE49-F238E27FC236}">
                <a16:creationId xmlns:a16="http://schemas.microsoft.com/office/drawing/2014/main" xmlns="" id="{9CD70831-6459-8433-27EF-6E582A8E1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49" y="1309687"/>
            <a:ext cx="4772025" cy="60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8C6B69B-0AD5-EB63-AFC5-23DFDF586749}"/>
                  </a:ext>
                </a:extLst>
              </p:cNvPr>
              <p:cNvSpPr txBox="1"/>
              <p:nvPr/>
            </p:nvSpPr>
            <p:spPr>
              <a:xfrm>
                <a:off x="838200" y="2363260"/>
                <a:ext cx="4469342" cy="686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Т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.к. </m:t>
                    </m:r>
                    <m:r>
                      <m:rPr>
                        <m:sty m:val="p"/>
                      </m:rPr>
                      <a:rPr lang="ru-RU" sz="16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sz="16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ru-RU" sz="1600" dirty="0"/>
                  <a:t>, множитель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ru-RU" sz="1600" dirty="0"/>
                  <a:t> переходит в бесконечно-малое приращение частоты: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C6B69B-0AD5-EB63-AFC5-23DFDF586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63260"/>
                <a:ext cx="4469342" cy="686726"/>
              </a:xfrm>
              <a:prstGeom prst="rect">
                <a:avLst/>
              </a:prstGeom>
              <a:blipFill>
                <a:blip r:embed="rId4"/>
                <a:stretch>
                  <a:fillRect l="-819" b="-116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7" name="Picture 9" descr="equation 4">
            <a:extLst>
              <a:ext uri="{FF2B5EF4-FFF2-40B4-BE49-F238E27FC236}">
                <a16:creationId xmlns:a16="http://schemas.microsoft.com/office/drawing/2014/main" xmlns="" id="{4D49925C-E1E7-EC10-DE30-067443644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12" y="2474963"/>
            <a:ext cx="226695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equation 5">
            <a:extLst>
              <a:ext uri="{FF2B5EF4-FFF2-40B4-BE49-F238E27FC236}">
                <a16:creationId xmlns:a16="http://schemas.microsoft.com/office/drawing/2014/main" xmlns="" id="{720700BC-BBCC-245B-36ED-1F947DBB4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4312" y="2608313"/>
            <a:ext cx="248602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equation 6">
            <a:extLst>
              <a:ext uri="{FF2B5EF4-FFF2-40B4-BE49-F238E27FC236}">
                <a16:creationId xmlns:a16="http://schemas.microsoft.com/office/drawing/2014/main" xmlns="" id="{621CFA19-F711-D278-3A59-6E46E53BB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463" y="3429000"/>
            <a:ext cx="4943475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26EC3CEC-940E-C4A8-AF44-FA70BD66F0D1}"/>
                  </a:ext>
                </a:extLst>
              </p:cNvPr>
              <p:cNvSpPr txBox="1"/>
              <p:nvPr/>
            </p:nvSpPr>
            <p:spPr>
              <a:xfrm>
                <a:off x="984778" y="4530221"/>
                <a:ext cx="30395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интеграл,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/>
                  <a:t>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EC3CEC-940E-C4A8-AF44-FA70BD66F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78" y="4530221"/>
                <a:ext cx="3039534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66" name="Picture 18" descr="equation 7">
            <a:extLst>
              <a:ext uri="{FF2B5EF4-FFF2-40B4-BE49-F238E27FC236}">
                <a16:creationId xmlns:a16="http://schemas.microsoft.com/office/drawing/2014/main" xmlns="" id="{3A8174F1-A2B4-7F92-0731-0A9CF6E93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3" y="4489978"/>
            <a:ext cx="43148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957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1B2CA39-5B7B-B457-8E3C-818DC4666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12645"/>
          </a:xfrm>
        </p:spPr>
        <p:txBody>
          <a:bodyPr/>
          <a:lstStyle/>
          <a:p>
            <a:r>
              <a:rPr lang="ru-RU" dirty="0"/>
              <a:t>Преобразование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52726B07-98A9-4103-648B-965AC576AE06}"/>
                  </a:ext>
                </a:extLst>
              </p:cNvPr>
              <p:cNvSpPr txBox="1"/>
              <p:nvPr/>
            </p:nvSpPr>
            <p:spPr>
              <a:xfrm>
                <a:off x="6351586" y="2070549"/>
                <a:ext cx="2119842" cy="453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dirty="0"/>
                  <a:t>Т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.к. </m:t>
                    </m:r>
                    <m:r>
                      <m:rPr>
                        <m:sty m:val="p"/>
                      </m:rPr>
                      <a:rPr lang="ru-RU" sz="16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ru-RU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sz="160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ru-RU" sz="1600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60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ru-RU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ru-RU" sz="16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600" dirty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num>
                      <m:den>
                        <m:r>
                          <a:rPr lang="ru-RU" sz="16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sz="16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ru-RU" sz="1600" dirty="0"/>
                  <a:t>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726B07-98A9-4103-648B-965AC576A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586" y="2070549"/>
                <a:ext cx="2119842" cy="453522"/>
              </a:xfrm>
              <a:prstGeom prst="rect">
                <a:avLst/>
              </a:prstGeom>
              <a:blipFill>
                <a:blip r:embed="rId2"/>
                <a:stretch>
                  <a:fillRect l="-1724" b="-67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9" descr="equation 4">
            <a:extLst>
              <a:ext uri="{FF2B5EF4-FFF2-40B4-BE49-F238E27FC236}">
                <a16:creationId xmlns:a16="http://schemas.microsoft.com/office/drawing/2014/main" xmlns="" id="{F3867764-57EF-E825-800E-8F6C5CF9D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708" y="1685189"/>
            <a:ext cx="226695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1" descr="equation 5">
            <a:extLst>
              <a:ext uri="{FF2B5EF4-FFF2-40B4-BE49-F238E27FC236}">
                <a16:creationId xmlns:a16="http://schemas.microsoft.com/office/drawing/2014/main" xmlns="" id="{45DE623C-1F7F-B086-8954-C693025BF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708" y="2400331"/>
            <a:ext cx="2486025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equation 6">
            <a:extLst>
              <a:ext uri="{FF2B5EF4-FFF2-40B4-BE49-F238E27FC236}">
                <a16:creationId xmlns:a16="http://schemas.microsoft.com/office/drawing/2014/main" xmlns="" id="{4A394A59-5D8F-CBD8-9C57-E5734FD84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455" y="3209925"/>
            <a:ext cx="4943475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5531B5A1-F070-C038-A251-10E3BD243D65}"/>
                  </a:ext>
                </a:extLst>
              </p:cNvPr>
              <p:cNvSpPr txBox="1"/>
              <p:nvPr/>
            </p:nvSpPr>
            <p:spPr>
              <a:xfrm>
                <a:off x="6351586" y="4284928"/>
                <a:ext cx="30395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𝛴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интеграл,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ⅆ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/>
                  <a:t>: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31B5A1-F070-C038-A251-10E3BD243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586" y="4284928"/>
                <a:ext cx="3039534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8" descr="equation 7">
            <a:extLst>
              <a:ext uri="{FF2B5EF4-FFF2-40B4-BE49-F238E27FC236}">
                <a16:creationId xmlns:a16="http://schemas.microsoft.com/office/drawing/2014/main" xmlns="" id="{181FF1B5-C5CC-BA85-9536-FCE6C79C7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455" y="5167289"/>
            <a:ext cx="43148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C86DB937-1B6C-3064-FF0D-AB839E6196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586" y="397508"/>
            <a:ext cx="4772025" cy="1066800"/>
          </a:xfrm>
          <a:prstGeom prst="rect">
            <a:avLst/>
          </a:prstGeom>
        </p:spPr>
      </p:pic>
      <p:pic>
        <p:nvPicPr>
          <p:cNvPr id="3074" name="Picture 2" descr="equation 8">
            <a:extLst>
              <a:ext uri="{FF2B5EF4-FFF2-40B4-BE49-F238E27FC236}">
                <a16:creationId xmlns:a16="http://schemas.microsoft.com/office/drawing/2014/main" xmlns="" id="{991D9EEF-F921-D625-0C4E-A8F860D78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32" y="2200306"/>
            <a:ext cx="3514725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equation 9">
            <a:extLst>
              <a:ext uri="{FF2B5EF4-FFF2-40B4-BE49-F238E27FC236}">
                <a16:creationId xmlns:a16="http://schemas.microsoft.com/office/drawing/2014/main" xmlns="" id="{ABA1080A-252D-5087-7544-0A78F0F04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32" y="3566086"/>
            <a:ext cx="4010025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8B52C4B0-FE21-A41E-5699-95A99FA99476}"/>
              </a:ext>
            </a:extLst>
          </p:cNvPr>
          <p:cNvCxnSpPr/>
          <p:nvPr/>
        </p:nvCxnSpPr>
        <p:spPr>
          <a:xfrm>
            <a:off x="5588000" y="457200"/>
            <a:ext cx="0" cy="591820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50BAB4A-B66C-9BEE-DAB3-A40FA79528CE}"/>
              </a:ext>
            </a:extLst>
          </p:cNvPr>
          <p:cNvSpPr txBox="1"/>
          <p:nvPr/>
        </p:nvSpPr>
        <p:spPr>
          <a:xfrm>
            <a:off x="840732" y="1676462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Прямое: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F63944-3367-D0EC-22D0-C56F02D30F3F}"/>
              </a:ext>
            </a:extLst>
          </p:cNvPr>
          <p:cNvSpPr txBox="1"/>
          <p:nvPr/>
        </p:nvSpPr>
        <p:spPr>
          <a:xfrm>
            <a:off x="840732" y="3048031"/>
            <a:ext cx="1503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Обратное: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72B91F3A-0346-0721-3EE5-31D8941D9638}"/>
                  </a:ext>
                </a:extLst>
              </p:cNvPr>
              <p:cNvSpPr txBox="1"/>
              <p:nvPr/>
            </p:nvSpPr>
            <p:spPr>
              <a:xfrm>
                <a:off x="534294" y="4473750"/>
                <a:ext cx="4829207" cy="655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Определение: П.Ф. - это разложение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i="1" dirty="0"/>
                  <a:t> в сумму экспоненциальный функций вида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B91F3A-0346-0721-3EE5-31D8941D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94" y="4473750"/>
                <a:ext cx="4829207" cy="655244"/>
              </a:xfrm>
              <a:prstGeom prst="rect">
                <a:avLst/>
              </a:prstGeom>
              <a:blipFill>
                <a:blip r:embed="rId11"/>
                <a:stretch>
                  <a:fillRect l="-1136" t="-5607" b="-14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971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426E35FA-257D-BC04-8384-4FEB6F72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ортогональных систем функций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49006C2-0F32-30C7-D79D-4A2B24171FEF}"/>
              </a:ext>
            </a:extLst>
          </p:cNvPr>
          <p:cNvSpPr txBox="1"/>
          <p:nvPr/>
        </p:nvSpPr>
        <p:spPr>
          <a:xfrm>
            <a:off x="6265333" y="1456227"/>
            <a:ext cx="4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Многочлены Лежандра (на отрезке </a:t>
            </a:r>
            <a:r>
              <a:rPr lang="en-US" dirty="0"/>
              <a:t>[-1,1]</a:t>
            </a:r>
            <a:r>
              <a:rPr lang="ru-RU" dirty="0"/>
              <a:t>)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87851F25-1BE6-66B4-88F8-DD6360849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533" y="1825559"/>
            <a:ext cx="4572000" cy="733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EC82564E-4F46-2BBF-A855-72C1AB461F33}"/>
              </a:ext>
            </a:extLst>
          </p:cNvPr>
          <p:cNvSpPr txBox="1"/>
          <p:nvPr/>
        </p:nvSpPr>
        <p:spPr>
          <a:xfrm>
            <a:off x="1637987" y="1520445"/>
            <a:ext cx="215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Базис Котельникова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EB1C789B-E640-14B8-1A98-2EFB31635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064" y="2085975"/>
            <a:ext cx="3200400" cy="67627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CA8463EE-FCA0-0B96-7431-7A9B266BA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99" y="3141077"/>
            <a:ext cx="4611865" cy="312023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19099FE0-7AF2-A573-7790-0E4B0B8CF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333" y="3468101"/>
            <a:ext cx="3708532" cy="2650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9F4988C-4FD8-B3E6-3868-530E08BB1CA5}"/>
              </a:ext>
            </a:extLst>
          </p:cNvPr>
          <p:cNvSpPr txBox="1"/>
          <p:nvPr/>
        </p:nvSpPr>
        <p:spPr>
          <a:xfrm>
            <a:off x="6265333" y="2828876"/>
            <a:ext cx="4953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Функции Уолша, вейвлеты (см. базис Хаара),…</a:t>
            </a:r>
          </a:p>
        </p:txBody>
      </p:sp>
    </p:spTree>
    <p:extLst>
      <p:ext uri="{BB962C8B-B14F-4D97-AF65-F5344CB8AC3E}">
        <p14:creationId xmlns:p14="http://schemas.microsoft.com/office/powerpoint/2010/main" val="2293033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D7E1C2-9E3E-DA26-60D3-861D5B01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Лапласа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D8009940-70B9-4656-CC13-E36975341120}"/>
                  </a:ext>
                </a:extLst>
              </p:cNvPr>
              <p:cNvSpPr txBox="1"/>
              <p:nvPr/>
            </p:nvSpPr>
            <p:spPr>
              <a:xfrm>
                <a:off x="1016754" y="1690687"/>
                <a:ext cx="8588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Интеграл Фурье не всегда сходится, например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</m:t>
                    </m:r>
                    <m:func>
                      <m:func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i="0" dirty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ru-RU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 dirty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ru-RU" i="0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…</a:t>
                </a:r>
              </a:p>
              <a:p>
                <a:r>
                  <a:rPr lang="ru-RU" dirty="0"/>
                  <a:t>Но можно умножить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ru-RU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dirty="0"/>
                  <a:t> и подобрать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так, чтобы интеграл сходился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009940-70B9-4656-CC13-E36975341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754" y="1690687"/>
                <a:ext cx="8588640" cy="646331"/>
              </a:xfrm>
              <a:prstGeom prst="rect">
                <a:avLst/>
              </a:prstGeom>
              <a:blipFill>
                <a:blip r:embed="rId2"/>
                <a:stretch>
                  <a:fillRect l="-639" t="-4717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6CC35A97-8999-309C-C2F7-A5CD5865D1F1}"/>
                  </a:ext>
                </a:extLst>
              </p:cNvPr>
              <p:cNvSpPr txBox="1"/>
              <p:nvPr/>
            </p:nvSpPr>
            <p:spPr>
              <a:xfrm>
                <a:off x="1016754" y="2567375"/>
                <a:ext cx="45148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В формулах П.Ф. заменим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ru-RU" dirty="0"/>
                  <a:t> 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C35A97-8999-309C-C2F7-A5CD5865D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754" y="2567375"/>
                <a:ext cx="4514826" cy="369332"/>
              </a:xfrm>
              <a:prstGeom prst="rect">
                <a:avLst/>
              </a:prstGeom>
              <a:blipFill>
                <a:blip r:embed="rId3"/>
                <a:stretch>
                  <a:fillRect l="-1216" t="-8197" r="-135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D9CFE53-8691-FC20-9A8F-D62F092C6D90}"/>
                  </a:ext>
                </a:extLst>
              </p:cNvPr>
              <p:cNvSpPr txBox="1"/>
              <p:nvPr/>
            </p:nvSpPr>
            <p:spPr>
              <a:xfrm>
                <a:off x="1092954" y="3050140"/>
                <a:ext cx="3213380" cy="809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grow m:val="on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ru-RU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ru-RU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sup>
                          </m:s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D9CFE53-8691-FC20-9A8F-D62F092C6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954" y="3050140"/>
                <a:ext cx="3213380" cy="8095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B0C7727C-7784-35F7-AA00-EF90F2A72377}"/>
                  </a:ext>
                </a:extLst>
              </p:cNvPr>
              <p:cNvSpPr txBox="1"/>
              <p:nvPr/>
            </p:nvSpPr>
            <p:spPr>
              <a:xfrm>
                <a:off x="5800421" y="3024209"/>
                <a:ext cx="3493457" cy="809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grow m:val="on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ru-RU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sSup>
                            <m:sSup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ru-RU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</m:sup>
                          </m:s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0C7727C-7784-35F7-AA00-EF90F2A72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421" y="3024209"/>
                <a:ext cx="3493457" cy="809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EE82A371-0A12-3C25-EA79-99D5FC28E876}"/>
                  </a:ext>
                </a:extLst>
              </p:cNvPr>
              <p:cNvSpPr txBox="1"/>
              <p:nvPr/>
            </p:nvSpPr>
            <p:spPr>
              <a:xfrm>
                <a:off x="1016754" y="4083580"/>
                <a:ext cx="3444726" cy="530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Очевидно, что </a:t>
                </a:r>
                <a14:m>
                  <m:oMath xmlns:m="http://schemas.openxmlformats.org/officeDocument/2006/math">
                    <m:r>
                      <a:rPr lang="ru-RU" smtClean="0">
                        <a:latin typeface="Cambria Math" panose="02040503050406030204" pitchFamily="18" charset="0"/>
                      </a:rPr>
                      <m:t>ⅆ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𝑗</m:t>
                        </m:r>
                      </m:den>
                    </m:f>
                    <m:r>
                      <a:rPr lang="ru-RU" b="0" i="0" smtClean="0">
                        <a:latin typeface="Cambria Math" panose="02040503050406030204" pitchFamily="18" charset="0"/>
                      </a:rPr>
                      <m:t>, поэтому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82A371-0A12-3C25-EA79-99D5FC28E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754" y="4083580"/>
                <a:ext cx="3444726" cy="530017"/>
              </a:xfrm>
              <a:prstGeom prst="rect">
                <a:avLst/>
              </a:prstGeom>
              <a:blipFill>
                <a:blip r:embed="rId6"/>
                <a:stretch>
                  <a:fillRect l="-1593" b="-45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51A2AD0D-2911-685F-02B1-3F08F0BBCA5E}"/>
                  </a:ext>
                </a:extLst>
              </p:cNvPr>
              <p:cNvSpPr txBox="1"/>
              <p:nvPr/>
            </p:nvSpPr>
            <p:spPr>
              <a:xfrm>
                <a:off x="4708220" y="3943797"/>
                <a:ext cx="2304156" cy="809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grow m:val="on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r>
                                <a:rPr lang="ru-RU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A2AD0D-2911-685F-02B1-3F08F0BBC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220" y="3943797"/>
                <a:ext cx="2304156" cy="8095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F338696B-A64F-7D0E-6FD1-B24D89F2041E}"/>
                  </a:ext>
                </a:extLst>
              </p:cNvPr>
              <p:cNvSpPr txBox="1"/>
              <p:nvPr/>
            </p:nvSpPr>
            <p:spPr>
              <a:xfrm>
                <a:off x="7376965" y="3851464"/>
                <a:ext cx="3213380" cy="96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ru-R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ru-RU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den>
                      </m:f>
                      <m:nary>
                        <m:naryPr>
                          <m:limLoc m:val="undOvr"/>
                          <m:grow m:val="on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p>
                            <m:sSupPr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ⅇ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p>
                          <m:r>
                            <a:rPr lang="ru-RU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38696B-A64F-7D0E-6FD1-B24D89F20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965" y="3851464"/>
                <a:ext cx="3213380" cy="9679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8457ED0C-C589-1DF3-009E-226B57C93ACA}"/>
                  </a:ext>
                </a:extLst>
              </p:cNvPr>
              <p:cNvSpPr txBox="1"/>
              <p:nvPr/>
            </p:nvSpPr>
            <p:spPr>
              <a:xfrm>
                <a:off x="1056314" y="4954227"/>
                <a:ext cx="10646408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</a:rPr>
                  <a:t>- </a:t>
                </a:r>
                <a:r>
                  <a:rPr lang="ru-RU" b="0" dirty="0">
                    <a:solidFill>
                      <a:schemeClr val="tx1"/>
                    </a:solidFill>
                  </a:rPr>
                  <a:t>где </a:t>
                </a:r>
                <a14:m>
                  <m:oMath xmlns:m="http://schemas.openxmlformats.org/officeDocument/2006/math">
                    <m:r>
                      <a:rPr lang="ru-RU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b="0" dirty="0">
                    <a:solidFill>
                      <a:schemeClr val="tx1"/>
                    </a:solidFill>
                  </a:rPr>
                  <a:t>достаточно велико – для сходимости интеграла.</a:t>
                </a:r>
              </a:p>
              <a:p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ru-RU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при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endParaRPr lang="ru-RU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Также можно считать, что П.Л.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- это П.Ф. от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ru-RU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ru-RU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dirty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ru-RU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457ED0C-C589-1DF3-009E-226B57C93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14" y="4954227"/>
                <a:ext cx="10646408" cy="1477328"/>
              </a:xfrm>
              <a:prstGeom prst="rect">
                <a:avLst/>
              </a:prstGeom>
              <a:blipFill>
                <a:blip r:embed="rId9"/>
                <a:stretch>
                  <a:fillRect l="-458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FAE50731-2786-2C37-B6EF-BE101BD591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0992" y="1160789"/>
            <a:ext cx="28765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75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5030" y="284567"/>
            <a:ext cx="10515600" cy="761281"/>
          </a:xfrm>
        </p:spPr>
        <p:txBody>
          <a:bodyPr/>
          <a:lstStyle/>
          <a:p>
            <a:r>
              <a:rPr lang="ru-RU" dirty="0" smtClean="0"/>
              <a:t>Преобразование Лапласа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65030" y="1247243"/>
            <a:ext cx="8121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правосторонних сигналов:</a:t>
            </a:r>
          </a:p>
          <a:p>
            <a:endParaRPr lang="ru-RU" dirty="0" smtClean="0"/>
          </a:p>
          <a:p>
            <a:r>
              <a:rPr lang="ru-RU" dirty="0" smtClean="0"/>
              <a:t>где</a:t>
            </a:r>
            <a:r>
              <a:rPr lang="ru-RU" dirty="0"/>
              <a:t> </a:t>
            </a:r>
            <a:r>
              <a:rPr lang="ru-RU" dirty="0" smtClean="0"/>
              <a:t>σ</a:t>
            </a:r>
            <a:r>
              <a:rPr lang="ru-RU" dirty="0"/>
              <a:t> достаточно велико для сходимости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Эквивалентная трактовка: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67" y="1126406"/>
            <a:ext cx="6427050" cy="9336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467" y="2252687"/>
            <a:ext cx="6488080" cy="63144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80" y="3076797"/>
            <a:ext cx="7088110" cy="33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92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3487" y="345674"/>
            <a:ext cx="10515600" cy="663575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Преобразование Лапласа, пример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070" y="365124"/>
            <a:ext cx="2792730" cy="586621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87" y="1210600"/>
            <a:ext cx="4240041" cy="4924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87" y="1884970"/>
            <a:ext cx="7912551" cy="5981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487" y="2559340"/>
            <a:ext cx="3329142" cy="77156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9874" y="2581212"/>
            <a:ext cx="3574502" cy="75822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487" y="3437483"/>
            <a:ext cx="5500123" cy="71487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3" y="4303238"/>
            <a:ext cx="3813828" cy="64519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87" y="5327304"/>
            <a:ext cx="3933778" cy="65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73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4616BDA-3C2C-4D63-82BB-6A397778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088"/>
          </a:xfrm>
        </p:spPr>
        <p:txBody>
          <a:bodyPr>
            <a:noAutofit/>
          </a:bodyPr>
          <a:lstStyle/>
          <a:p>
            <a:r>
              <a:rPr lang="ru-RU" sz="3600" dirty="0"/>
              <a:t>Механика-электричество: одни и те же «качели»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A8404ED-4E7F-4930-8005-93EE0BE0A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>
            <a:normAutofit/>
          </a:bodyPr>
          <a:lstStyle/>
          <a:p>
            <a:r>
              <a:rPr lang="ru-RU" sz="1800" b="0" i="0" dirty="0">
                <a:solidFill>
                  <a:srgbClr val="1D1D1F"/>
                </a:solidFill>
                <a:effectLst/>
                <a:latin typeface="system-ui"/>
              </a:rPr>
              <a:t>Механические и электрические системы описываются одинаковыми уравнениями</a:t>
            </a:r>
            <a:endParaRPr lang="ru-RU" sz="1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1593866F-AF10-8FB4-287C-C60FAFD5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0" y="1820850"/>
            <a:ext cx="2829320" cy="215295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9771A384-709C-16ED-F152-820B1A020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77" y="1770898"/>
            <a:ext cx="2324424" cy="4572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81B8F096-849D-3750-0DFA-BB6FE817C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81" y="3980357"/>
            <a:ext cx="2810267" cy="232442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7C34E11E-CE34-41AF-D16F-6AE20870E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014" y="1770898"/>
            <a:ext cx="2676899" cy="86689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xmlns="" id="{0647E154-3B1E-968F-A4FE-F492F326B0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817" y="4372628"/>
            <a:ext cx="4086646" cy="177914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xmlns="" id="{FBE21744-5BC7-F818-C96A-E9A8BB08AB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6014" y="2728815"/>
            <a:ext cx="2410161" cy="140037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xmlns="" id="{9F916EB1-BDED-37BC-475C-C734A79CA1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6669" y="2728815"/>
            <a:ext cx="2276793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24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3CAFCE-B1C2-3362-FEFD-FD7356AB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309"/>
          </a:xfrm>
        </p:spPr>
        <p:txBody>
          <a:bodyPr>
            <a:normAutofit/>
          </a:bodyPr>
          <a:lstStyle/>
          <a:p>
            <a:r>
              <a:rPr lang="ru-RU" sz="2800" dirty="0"/>
              <a:t>Как рождается передаточная функция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7161B7BD-E7EB-F5A0-46EC-18B7825EA1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057618"/>
                <a:ext cx="10024431" cy="4858439"/>
              </a:xfrm>
            </p:spPr>
            <p:txBody>
              <a:bodyPr>
                <a:normAutofit/>
              </a:bodyPr>
              <a:lstStyle/>
              <a:p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У нас есть линейная система (чёрный ящик). Мы подаём на вход сигнал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снимаем с выхода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Система описывается линейным дифференциальным уравнением с постоянными коэффициентами (потому что 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R, L, C — 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константы).</a:t>
                </a:r>
              </a:p>
              <a:p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Вместо того чтобы решать уравнение для каждого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мы используем свойство </a:t>
                </a:r>
                <a:r>
                  <a:rPr lang="ru-RU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собственной функции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endParaRPr lang="ru-RU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ru-RU" sz="1800" b="0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m:t>Если </m:t>
                          </m:r>
                          <m:r>
                            <a:rPr lang="ru-RU" sz="18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ar-AE" sz="1800" i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m:t>, </m:t>
                          </m:r>
                          <m:r>
                            <m:rPr>
                              <m:nor/>
                            </m:rPr>
                            <a:rPr lang="ru-RU" sz="1800" i="1">
                              <a:latin typeface="Segoe UI" panose="020B0502040204020203" pitchFamily="34" charset="0"/>
                              <a:cs typeface="Segoe UI" panose="020B0502040204020203" pitchFamily="34" charset="0"/>
                            </a:rPr>
                            <m:t>то </m:t>
                          </m:r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ar-AE" sz="1800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ru-RU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Выход = Тот же самый сигнал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умножить на некоторое число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  <a:b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Система </a:t>
                </a:r>
                <a:r>
                  <a:rPr lang="ru-RU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не искажает форму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а просто </a:t>
                </a:r>
                <a:r>
                  <a:rPr lang="ru-RU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усиливает или ослабляет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сигнал в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</a:t>
                </a:r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раз (и сдвигает по фазе, если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комплексное).</a:t>
                </a:r>
              </a:p>
              <a:p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ar-AE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— </a:t>
                </a:r>
                <a:r>
                  <a:rPr lang="ru-RU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это и есть та самая Передаточная Функция!</a:t>
                </a:r>
                <a:endParaRPr lang="ru-RU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161B7BD-E7EB-F5A0-46EC-18B7825EA1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057618"/>
                <a:ext cx="10024431" cy="4858439"/>
              </a:xfrm>
              <a:blipFill rotWithShape="0">
                <a:blip r:embed="rId2"/>
                <a:stretch>
                  <a:fillRect l="-365" t="-1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563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22E6E664-F769-F7B3-85D4-B829B9F8CB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39827"/>
                <a:ext cx="10288836" cy="567368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800" dirty="0"/>
                  <a:t>Типичное уравнение системы: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1800" dirty="0"/>
              </a:p>
              <a:p>
                <a:pPr marL="0" indent="0">
                  <a:buNone/>
                </a:pPr>
                <a:r>
                  <a:rPr lang="ru-RU" sz="1800" dirty="0"/>
                  <a:t>Подставляем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ar-AE" sz="1800" dirty="0"/>
                  <a:t>, </a:t>
                </a:r>
                <a14:m>
                  <m:oMath xmlns:m="http://schemas.openxmlformats.org/officeDocument/2006/math">
                    <m:r>
                      <a:rPr lang="ar-AE" sz="18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ar-AE" sz="1800" dirty="0"/>
                  <a:t>:</a:t>
                </a:r>
              </a:p>
              <a:p>
                <a:pPr marL="0" indent="0">
                  <a:buNone/>
                </a:pPr>
                <a:r>
                  <a:rPr lang="ru-RU" sz="1800" b="1" dirty="0"/>
                  <a:t>Левая часть:</a:t>
                </a:r>
                <a:endParaRPr lang="ru-RU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800" i="1">
                          <a:latin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ar-AE" sz="1800" dirty="0"/>
              </a:p>
              <a:p>
                <a:pPr marL="0" indent="0">
                  <a:buNone/>
                </a:pPr>
                <a:r>
                  <a:rPr lang="ru-RU" sz="1800" b="1" dirty="0"/>
                  <a:t>Правая часть:</a:t>
                </a:r>
                <a:endParaRPr lang="ru-RU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800" i="1">
                          <a:latin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p>
                      </m:sSup>
                    </m:oMath>
                  </m:oMathPara>
                </a14:m>
                <a:endParaRPr lang="ar-AE" sz="1800" dirty="0"/>
              </a:p>
              <a:p>
                <a:pPr marL="0" indent="0">
                  <a:buNone/>
                </a:pPr>
                <a:r>
                  <a:rPr lang="ru-RU" sz="1800" b="1" dirty="0"/>
                  <a:t>Сокращаем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ar-AE" sz="1800" b="1" dirty="0"/>
                  <a:t> </a:t>
                </a:r>
                <a:r>
                  <a:rPr lang="ru-RU" sz="1800" b="1" dirty="0"/>
                  <a:t>и получаем 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ar-AE" sz="18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ar-AE" sz="1800" dirty="0"/>
                  <a:t> — </a:t>
                </a:r>
                <a:r>
                  <a:rPr lang="ru-RU" sz="1800" dirty="0"/>
                  <a:t>общий множитель в обеих частях, и он никогда не равен нулю. Делим на него:</a:t>
                </a:r>
              </a:p>
              <a:p>
                <a:pPr marL="0" indent="0">
                  <a:buNone/>
                </a:pPr>
                <a:endParaRPr lang="ru-RU" sz="18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1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800" dirty="0"/>
              </a:p>
              <a:p>
                <a:pPr marL="0" indent="0">
                  <a:buNone/>
                </a:pPr>
                <a:endParaRPr lang="ar-AE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+⋯+</m:t>
                              </m:r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borderBox>
                    </m:oMath>
                  </m:oMathPara>
                </a14:m>
                <a:endParaRPr lang="ru-RU" sz="1800" dirty="0"/>
              </a:p>
              <a:p>
                <a:pPr marL="0" indent="0">
                  <a:buNone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dirty="0">
                    <a:solidFill>
                      <a:schemeClr val="accent5"/>
                    </a:solidFill>
                  </a:rPr>
                  <a:t>Передаточная функция любой линейной системы с сосредоточенными параметрами — это отношение двух многочленов от </a:t>
                </a:r>
                <a14:m>
                  <m:oMath xmlns:m="http://schemas.openxmlformats.org/officeDocument/2006/math">
                    <m:r>
                      <a:rPr lang="ru-RU" sz="1800" b="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ru-RU" sz="1800" dirty="0">
                    <a:solidFill>
                      <a:schemeClr val="accent5"/>
                    </a:solidFill>
                  </a:rPr>
                  <a:t>. То есть РАЦИОНАЛЬНАЯ ДРОБЬ.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E6E664-F769-F7B3-85D4-B829B9F8CB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39827"/>
                <a:ext cx="10288836" cy="5673686"/>
              </a:xfrm>
              <a:blipFill rotWithShape="0">
                <a:blip r:embed="rId2"/>
                <a:stretch>
                  <a:fillRect l="-533" t="-1075" r="-889" b="-3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852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2E83D0-4FCC-4670-9DE3-7E437B03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461"/>
          </a:xfrm>
        </p:spPr>
        <p:txBody>
          <a:bodyPr>
            <a:normAutofit/>
          </a:bodyPr>
          <a:lstStyle/>
          <a:p>
            <a:r>
              <a:rPr lang="ru-RU" sz="2800" dirty="0"/>
              <a:t>От физики к импедансу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1AD5EBB2-2729-BBAD-59A9-2EA5F12A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35586"/>
            <a:ext cx="7160046" cy="2251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43F5BF63-984E-B279-F20D-5B0EA701C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793306"/>
            <a:ext cx="7715209" cy="22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928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E7C35BD1-DC56-1F50-C703-E9748CB86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7961"/>
                <a:ext cx="10515600" cy="558555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Второй закон Кирхгофа: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i="1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𝑅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ru-RU" sz="16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Начальные условия:</a:t>
                </a:r>
                <a:endParaRPr lang="ru-RU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ru-RU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Начальный ток: 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(</a:t>
                </a:r>
                <a:r>
                  <a:rPr lang="ru-RU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катушка при 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ru-RU" sz="1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ar-AE" sz="160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ar-A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 </a:t>
                </a:r>
                <a:r>
                  <a:rPr lang="ru-RU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была обесточена, а ток в ней скачком не меняется)</a:t>
                </a:r>
              </a:p>
              <a:p>
                <a:r>
                  <a:rPr lang="ru-RU" sz="16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Напоминание формул (с учетом начальных условий!):</a:t>
                </a:r>
              </a:p>
              <a:p>
                <a:endParaRPr lang="ru-RU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𝑠𝑄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begChr m:val="{"/>
                          <m:endChr m:val="}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̈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16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𝑠𝑞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̇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r>
                  <a:rPr lang="ru-RU" sz="16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Подставляем:	</a:t>
                </a:r>
                <a:endParaRPr lang="ru-RU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𝑠𝑞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̇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𝑠𝑄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ar-AE" sz="16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ru-RU" sz="16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Учитываем начальные условия:	</a:t>
                </a:r>
                <a14:m>
                  <m:oMath xmlns:m="http://schemas.openxmlformats.org/officeDocument/2006/math">
                    <m:r>
                      <a:rPr lang="ru-RU" sz="16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 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d>
                      <m:d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𝑠𝑄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ar-AE" sz="16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num>
                        <m:den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7C35BD1-DC56-1F50-C703-E9748CB86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7961"/>
                <a:ext cx="10515600" cy="5585552"/>
              </a:xfrm>
              <a:blipFill rotWithShape="0">
                <a:blip r:embed="rId2"/>
                <a:stretch>
                  <a:fillRect l="-348" t="-8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459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EA6769-8135-413B-C6CA-CAE6B7548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="" id="{CFCE8E73-181F-CCFF-F3E0-2A58D0B14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7961"/>
                <a:ext cx="10515600" cy="5585552"/>
              </a:xfrm>
            </p:spPr>
            <p:txBody>
              <a:bodyPr>
                <a:noAutofit/>
              </a:bodyPr>
              <a:lstStyle/>
              <a:p>
                <a:r>
                  <a:rPr lang="ru-RU" sz="1600" dirty="0"/>
                  <a:t>Мы получили изображение заряда: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ar-AE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ru-RU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ar-AE" sz="16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ar-AE" sz="1600" dirty="0"/>
              </a:p>
              <a:p>
                <a:r>
                  <a:rPr lang="ru-RU" sz="1600" dirty="0"/>
                  <a:t>Теперь </a:t>
                </a:r>
                <a:r>
                  <a:rPr lang="ru-RU" sz="1600" b="1" dirty="0"/>
                  <a:t>вся судьба системы зависит от дискриминанта</a:t>
                </a:r>
                <a:r>
                  <a:rPr lang="ru-RU" sz="1600" dirty="0"/>
                  <a:t> знаменателя.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FCE8E73-181F-CCFF-F3E0-2A58D0B14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7961"/>
                <a:ext cx="10515600" cy="5585552"/>
              </a:xfrm>
              <a:blipFill rotWithShape="0">
                <a:blip r:embed="rId2"/>
                <a:stretch>
                  <a:fillRect l="-232" t="-7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3AB39995-69C2-ADFF-D9AE-1B9DEDD9E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44" y="1825041"/>
            <a:ext cx="2619741" cy="40963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xmlns="" id="{44C489D6-7679-56B6-9FFC-D4A0BE01F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76" y="2729835"/>
            <a:ext cx="8778934" cy="329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415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55636F9B-4B77-5EC1-A632-84D26D641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191" y="605700"/>
            <a:ext cx="3968308" cy="25751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D77EA19F-E0C1-B6D7-2C6A-F63573446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9" y="3429000"/>
            <a:ext cx="4041286" cy="24553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E7A117C1-5C86-33D9-5CA5-66BB2217D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71" y="3369132"/>
            <a:ext cx="4255562" cy="257513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75D39EB9-D186-E382-EEE8-9FB6E5E03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442" y="396746"/>
            <a:ext cx="3596645" cy="278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00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CB8C04-FDA7-C1C9-A2D2-259BE36DB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6" descr="Схема RC-цепи">
            <a:extLst>
              <a:ext uri="{FF2B5EF4-FFF2-40B4-BE49-F238E27FC236}">
                <a16:creationId xmlns:a16="http://schemas.microsoft.com/office/drawing/2014/main" xmlns="" id="{ECC17B47-0642-F722-4097-4E7886F740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F8BD07F-B766-BC35-E388-4C3E15DF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461"/>
          </a:xfrm>
        </p:spPr>
        <p:txBody>
          <a:bodyPr>
            <a:normAutofit/>
          </a:bodyPr>
          <a:lstStyle/>
          <a:p>
            <a:r>
              <a:rPr lang="ru-RU" sz="2800" dirty="0"/>
              <a:t>Простейший фильтр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AC90A3A5-39F9-23AE-45F5-DDA350C65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11378"/>
            <a:ext cx="9795690" cy="29400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35745245-6F65-C34E-13C1-B30B445F4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848" y="552412"/>
            <a:ext cx="1796406" cy="147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203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DFEB52B-F6BE-39CB-B06C-64A763EF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RC-</a:t>
            </a:r>
            <a:r>
              <a:rPr lang="ru-RU" dirty="0"/>
              <a:t>цепь: </a:t>
            </a:r>
            <a:r>
              <a:rPr lang="ru-RU" dirty="0" err="1"/>
              <a:t>дифф</a:t>
            </a:r>
            <a:r>
              <a:rPr lang="ru-RU" dirty="0"/>
              <a:t>. уравнение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D0F9565E-94EF-3144-3646-C6D81DF21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238" y="1675193"/>
            <a:ext cx="2647950" cy="1990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0796EC8B-C9E8-97FB-3A51-0A7B9289F3E3}"/>
                  </a:ext>
                </a:extLst>
              </p:cNvPr>
              <p:cNvSpPr txBox="1"/>
              <p:nvPr/>
            </p:nvSpPr>
            <p:spPr>
              <a:xfrm>
                <a:off x="1459684" y="4177295"/>
                <a:ext cx="3277820" cy="663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ⅈ</m:t>
                      </m:r>
                      <m:d>
                        <m:d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ru-R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𝑐</m:t>
                      </m:r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sSub>
                            <m:sSubPr>
                              <m:ctrlPr>
                                <a:rPr lang="ru-RU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796EC8B-C9E8-97FB-3A51-0A7B9289F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684" y="4177295"/>
                <a:ext cx="3277820" cy="663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0F598803-5306-9BB6-4368-EBEBFCCC8F71}"/>
                  </a:ext>
                </a:extLst>
              </p:cNvPr>
              <p:cNvSpPr txBox="1"/>
              <p:nvPr/>
            </p:nvSpPr>
            <p:spPr>
              <a:xfrm>
                <a:off x="1568741" y="5182807"/>
                <a:ext cx="36725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598803-5306-9BB6-4368-EBEBFCCC8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741" y="5182807"/>
                <a:ext cx="3672544" cy="276999"/>
              </a:xfrm>
              <a:prstGeom prst="rect">
                <a:avLst/>
              </a:prstGeom>
              <a:blipFill>
                <a:blip r:embed="rId4"/>
                <a:stretch>
                  <a:fillRect l="-995" b="-239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E0C53F22-BB4A-F84B-12C7-47CCD2216D63}"/>
                  </a:ext>
                </a:extLst>
              </p:cNvPr>
              <p:cNvSpPr txBox="1"/>
              <p:nvPr/>
            </p:nvSpPr>
            <p:spPr>
              <a:xfrm>
                <a:off x="6562989" y="1490527"/>
                <a:ext cx="30437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При воздействии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i="0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0C53F22-BB4A-F84B-12C7-47CCD2216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989" y="1490527"/>
                <a:ext cx="3043782" cy="369332"/>
              </a:xfrm>
              <a:prstGeom prst="rect">
                <a:avLst/>
              </a:prstGeom>
              <a:blipFill>
                <a:blip r:embed="rId5"/>
                <a:stretch>
                  <a:fillRect l="-1804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3507F2E2-82F5-C24D-BD0D-7FEAB480B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989" y="2149169"/>
            <a:ext cx="32956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059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E0750C8-8C24-77D0-E863-CDC52D24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4501"/>
          </a:xfrm>
        </p:spPr>
        <p:txBody>
          <a:bodyPr>
            <a:normAutofit/>
          </a:bodyPr>
          <a:lstStyle/>
          <a:p>
            <a:r>
              <a:rPr lang="ru-RU" sz="2800" dirty="0"/>
              <a:t>δ-функция и её спектр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6B2D5B9F-F25A-9554-12F1-E611EA0D5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89" y="1184920"/>
            <a:ext cx="3893311" cy="27942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CE16E71-708E-483B-00A8-FD823E408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65" y="1469581"/>
            <a:ext cx="1524000" cy="69532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03617268-FAC7-30DF-EF2A-2BC3BA1FF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2" y="1340779"/>
            <a:ext cx="2781300" cy="8001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883F98B3-2F45-FB1D-F99A-045C60959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602" y="2373584"/>
            <a:ext cx="3609975" cy="79057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2CDBF541-75B3-00C3-2AD1-ACBD87F946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5" y="2343284"/>
            <a:ext cx="2924175" cy="7048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9A4CA18A-3ECA-0A6C-AAB5-14D80F2F2ABC}"/>
              </a:ext>
            </a:extLst>
          </p:cNvPr>
          <p:cNvSpPr txBox="1"/>
          <p:nvPr/>
        </p:nvSpPr>
        <p:spPr>
          <a:xfrm>
            <a:off x="1137817" y="5322721"/>
            <a:ext cx="2021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Спектр </a:t>
            </a:r>
            <a:r>
              <a:rPr lang="ru-RU" sz="1800" dirty="0"/>
              <a:t>δ-</a:t>
            </a:r>
            <a:r>
              <a:rPr lang="ru-RU" dirty="0"/>
              <a:t>функции: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323C7415-98CD-503A-3019-4A4CD593E3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5108" y="3500304"/>
            <a:ext cx="5600700" cy="61912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xmlns="" id="{B96C5CB1-DA4C-FCE1-222F-35FC37D806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6950" y="4429669"/>
            <a:ext cx="7191113" cy="1831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299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50F8E6B-9F6B-A510-77A2-F59B1B56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5444"/>
          </a:xfrm>
        </p:spPr>
        <p:txBody>
          <a:bodyPr/>
          <a:lstStyle/>
          <a:p>
            <a:r>
              <a:rPr lang="ru-RU" dirty="0"/>
              <a:t>Интеграл свёртки, интеграл Дюамеля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39929F94-D094-E834-D7B8-7C91BABC2420}"/>
              </a:ext>
            </a:extLst>
          </p:cNvPr>
          <p:cNvSpPr txBox="1"/>
          <p:nvPr/>
        </p:nvSpPr>
        <p:spPr>
          <a:xfrm>
            <a:off x="838200" y="1239063"/>
            <a:ext cx="2123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Интеграл </a:t>
            </a:r>
            <a:r>
              <a:rPr lang="ru-RU" dirty="0" smtClean="0"/>
              <a:t>Дюамеля: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631" y="1090570"/>
            <a:ext cx="2847160" cy="6944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937673"/>
            <a:ext cx="1027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Отклик на δ — </a:t>
            </a:r>
            <a:r>
              <a:rPr lang="ru-RU" b="1" dirty="0"/>
              <a:t>импульсная характеристика</a:t>
            </a:r>
            <a:r>
              <a:rPr lang="ru-RU" dirty="0"/>
              <a:t> h(t)</a:t>
            </a:r>
            <a:r>
              <a:rPr lang="ru-RU" i="1" dirty="0"/>
              <a:t>h</a:t>
            </a:r>
            <a:r>
              <a:rPr lang="ru-RU" dirty="0"/>
              <a:t>(</a:t>
            </a:r>
            <a:r>
              <a:rPr lang="ru-RU" i="1" dirty="0"/>
              <a:t>t</a:t>
            </a:r>
            <a:r>
              <a:rPr lang="ru-RU" dirty="0"/>
              <a:t>); из-за стационарности отклик на δ(t−τ)</a:t>
            </a:r>
            <a:r>
              <a:rPr lang="ru-RU" i="1" dirty="0"/>
              <a:t>δ</a:t>
            </a:r>
            <a:r>
              <a:rPr lang="ru-RU" dirty="0"/>
              <a:t>(</a:t>
            </a:r>
            <a:r>
              <a:rPr lang="ru-RU" i="1" dirty="0"/>
              <a:t>t</a:t>
            </a:r>
            <a:r>
              <a:rPr lang="ru-RU" dirty="0"/>
              <a:t>−</a:t>
            </a:r>
            <a:r>
              <a:rPr lang="ru-RU" i="1" dirty="0"/>
              <a:t>τ</a:t>
            </a:r>
            <a:r>
              <a:rPr lang="ru-RU" dirty="0"/>
              <a:t>) есть h(t−τ)</a:t>
            </a:r>
            <a:r>
              <a:rPr lang="ru-RU" i="1" dirty="0"/>
              <a:t>h</a:t>
            </a:r>
            <a:r>
              <a:rPr lang="ru-RU" dirty="0"/>
              <a:t>(</a:t>
            </a:r>
            <a:r>
              <a:rPr lang="ru-RU" i="1" dirty="0"/>
              <a:t>t</a:t>
            </a:r>
            <a:r>
              <a:rPr lang="ru-RU" dirty="0"/>
              <a:t>−</a:t>
            </a:r>
            <a:r>
              <a:rPr lang="ru-RU" i="1" dirty="0"/>
              <a:t>τ</a:t>
            </a:r>
            <a:r>
              <a:rPr lang="ru-RU" dirty="0"/>
              <a:t>); из-за линейности отклик на сумму — сумма откликов. Поэтому отклик на произвольное воздействие — </a:t>
            </a:r>
            <a:r>
              <a:rPr lang="ru-RU" b="1" dirty="0"/>
              <a:t>интеграл Дюамеля</a:t>
            </a:r>
            <a:r>
              <a:rPr lang="ru-RU" dirty="0"/>
              <a:t> (свёртка):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87" y="3100357"/>
            <a:ext cx="4375984" cy="66080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838200" y="3973496"/>
            <a:ext cx="110604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02020"/>
                </a:solidFill>
                <a:latin typeface="-apple-system"/>
              </a:rPr>
              <a:t>Переходная характеристика</a:t>
            </a:r>
            <a:r>
              <a:rPr lang="ru-RU" dirty="0">
                <a:solidFill>
                  <a:srgbClr val="202020"/>
                </a:solidFill>
                <a:latin typeface="-apple-system"/>
              </a:rPr>
              <a:t> </a:t>
            </a:r>
            <a:r>
              <a:rPr lang="ru-RU" dirty="0" smtClean="0">
                <a:solidFill>
                  <a:srgbClr val="202020"/>
                </a:solidFill>
                <a:latin typeface="-apple-system"/>
              </a:rPr>
              <a:t>-</a:t>
            </a:r>
            <a:r>
              <a:rPr lang="en-US" dirty="0" smtClean="0">
                <a:solidFill>
                  <a:srgbClr val="202020"/>
                </a:solidFill>
                <a:latin typeface="-apple-system"/>
              </a:rPr>
              <a:t> </a:t>
            </a:r>
            <a:r>
              <a:rPr lang="ru-RU" dirty="0">
                <a:solidFill>
                  <a:srgbClr val="202020"/>
                </a:solidFill>
                <a:latin typeface="-apple-system"/>
              </a:rPr>
              <a:t>реакция на единичную ступеньку </a:t>
            </a:r>
            <a:r>
              <a:rPr lang="el-GR" i="1" dirty="0" smtClean="0">
                <a:solidFill>
                  <a:srgbClr val="202020"/>
                </a:solidFill>
                <a:latin typeface="KaTeX_Math"/>
              </a:rPr>
              <a:t>σ</a:t>
            </a:r>
            <a:r>
              <a:rPr lang="el-GR" dirty="0" smtClean="0">
                <a:solidFill>
                  <a:srgbClr val="202020"/>
                </a:solidFill>
                <a:latin typeface="KaTeX_Main"/>
              </a:rPr>
              <a:t>(</a:t>
            </a:r>
            <a:r>
              <a:rPr lang="en-US" i="1" dirty="0">
                <a:solidFill>
                  <a:srgbClr val="202020"/>
                </a:solidFill>
                <a:latin typeface="KaTeX_Math"/>
              </a:rPr>
              <a:t>t</a:t>
            </a:r>
            <a:r>
              <a:rPr lang="en-US" dirty="0" smtClean="0">
                <a:solidFill>
                  <a:srgbClr val="202020"/>
                </a:solidFill>
                <a:latin typeface="KaTeX_Main"/>
              </a:rPr>
              <a:t>)</a:t>
            </a:r>
            <a:r>
              <a:rPr lang="en-US" dirty="0"/>
              <a:t/>
            </a:r>
            <a:br>
              <a:rPr lang="en-US" dirty="0"/>
            </a:b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064" y="3761160"/>
            <a:ext cx="2350479" cy="799482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87" y="4832163"/>
            <a:ext cx="3402157" cy="56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6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D7E1C2-9E3E-DA26-60D3-861D5B01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Переходная характеристика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F99A990-D1D2-86BD-B074-8C2CFFA03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22801"/>
            <a:ext cx="4784433" cy="19061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F6D9727C-823A-9BCD-D379-6FEC67BCF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86" y="1690688"/>
            <a:ext cx="3965697" cy="360276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9D20792-7508-6C2E-5E76-A68791C4A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966" y="3805489"/>
            <a:ext cx="3805761" cy="224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028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B8ABEB-9EB7-74C6-3A28-775B67E0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Нахождение импульсной характеристики и использование интеграла Дюамеля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4423E526-4B9A-FFC0-6B7A-8B2B0BCC2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0085"/>
            <a:ext cx="2647950" cy="1990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32C679B0-1E29-889F-5342-047567434A34}"/>
                  </a:ext>
                </a:extLst>
              </p:cNvPr>
              <p:cNvSpPr txBox="1"/>
              <p:nvPr/>
            </p:nvSpPr>
            <p:spPr>
              <a:xfrm>
                <a:off x="4186107" y="2411834"/>
                <a:ext cx="1651349" cy="696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C679B0-1E29-889F-5342-047567434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107" y="2411834"/>
                <a:ext cx="1651349" cy="6960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2D72956E-F310-F6FB-8884-0B9639FBAE5A}"/>
                  </a:ext>
                </a:extLst>
              </p:cNvPr>
              <p:cNvSpPr txBox="1"/>
              <p:nvPr/>
            </p:nvSpPr>
            <p:spPr>
              <a:xfrm>
                <a:off x="6556329" y="2434954"/>
                <a:ext cx="4323363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ru-RU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sup>
                      </m:sSup>
                      <m:r>
                        <a:rPr lang="ru-RU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72956E-F310-F6FB-8884-0B9639FBA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329" y="2434954"/>
                <a:ext cx="4323363" cy="5375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80C6993B-388F-9C53-4471-63285F368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582" y="3429000"/>
            <a:ext cx="5267325" cy="2895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618BED43-9C8F-9C59-1C7A-3026EE7489FF}"/>
                  </a:ext>
                </a:extLst>
              </p:cNvPr>
              <p:cNvSpPr txBox="1"/>
              <p:nvPr/>
            </p:nvSpPr>
            <p:spPr>
              <a:xfrm>
                <a:off x="931178" y="5077257"/>
                <a:ext cx="37918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Найдём реакцию цепи на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ru-RU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𝑘𝑡</m:t>
                    </m:r>
                  </m:oMath>
                </a14:m>
                <a:r>
                  <a:rPr lang="ru-RU" dirty="0"/>
                  <a:t> с помощью интеграла Дюамеля: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8BED43-9C8F-9C59-1C7A-3026EE748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178" y="5077257"/>
                <a:ext cx="3791824" cy="646331"/>
              </a:xfrm>
              <a:prstGeom prst="rect">
                <a:avLst/>
              </a:prstGeom>
              <a:blipFill>
                <a:blip r:embed="rId6"/>
                <a:stretch>
                  <a:fillRect l="-1447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318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xmlns="" id="{3DF59224-93AA-5428-BD40-81BE48CE9A7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Связь между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ru-RU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3DF59224-93AA-5428-BD40-81BE48CE9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38C19102-F281-E3E6-FCFE-3D674E105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85" y="1900413"/>
            <a:ext cx="60007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756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F201DE-13A6-5BE7-324A-C52D5B55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цифровой фильтрации, </a:t>
            </a:r>
            <a:r>
              <a:rPr lang="en-US" dirty="0"/>
              <a:t>blur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5FFF94B7-C867-C4A6-9CA3-1A6E451823B6}"/>
                  </a:ext>
                </a:extLst>
              </p:cNvPr>
              <p:cNvSpPr txBox="1"/>
              <p:nvPr/>
            </p:nvSpPr>
            <p:spPr>
              <a:xfrm>
                <a:off x="838201" y="1690688"/>
                <a:ext cx="471531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изучаемый сигнал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1800" b="0" i="0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– Фурье-спектр сигнала</a:t>
                </a:r>
                <a:endParaRPr lang="en-US" sz="18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импульсн</a:t>
                </a:r>
                <a:r>
                  <a:rPr lang="ru-RU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ая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характеристика фильтра</a:t>
                </a:r>
                <a:endParaRPr lang="ru-RU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𝑗𝑤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частотная характеристика фильтра 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FFF94B7-C867-C4A6-9CA3-1A6E45182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1690688"/>
                <a:ext cx="4715312" cy="1477328"/>
              </a:xfrm>
              <a:prstGeom prst="rect">
                <a:avLst/>
              </a:prstGeom>
              <a:blipFill>
                <a:blip r:embed="rId2"/>
                <a:stretch>
                  <a:fillRect l="-388" t="-20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0F5B0AD4-1E3D-226F-381A-3B9D7FED7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761" y="1567605"/>
            <a:ext cx="2533650" cy="1390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2A576C4-9371-BB8B-2385-4D873BD0F659}"/>
              </a:ext>
            </a:extLst>
          </p:cNvPr>
          <p:cNvSpPr txBox="1"/>
          <p:nvPr/>
        </p:nvSpPr>
        <p:spPr>
          <a:xfrm>
            <a:off x="838200" y="3168016"/>
            <a:ext cx="10713440" cy="1759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преобразование Фурье связывает импульсную характеристику фильтра с комплексным коэффициентом передачи (частотной характеристикой).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 прохождения сигнала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через фильтр с импульсной характеристикой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вычисляется либо через свёртку: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ECA985A2-71A1-9612-C81D-2B443E2ED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280" y="4236713"/>
            <a:ext cx="2676525" cy="61912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15054BE0-1CCC-77E1-2B8F-D2C5D7356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324" y="5402816"/>
            <a:ext cx="3324225" cy="7334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2A9118-C2AF-B09E-DE05-8420611492E0}"/>
              </a:ext>
            </a:extLst>
          </p:cNvPr>
          <p:cNvSpPr txBox="1"/>
          <p:nvPr/>
        </p:nvSpPr>
        <p:spPr>
          <a:xfrm>
            <a:off x="853273" y="4900721"/>
            <a:ext cx="9708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либо через обратное преобразование Фурье от произведения спектра сигнала с частотной характеристики фильтра: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2095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1D88ABF-A484-329B-861C-752F8BC0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Фильтр «скользящее среднее» (</a:t>
            </a:r>
            <a:r>
              <a:rPr lang="en-US" dirty="0"/>
              <a:t>blur)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37D8682-FD23-FA1F-357F-4699828CDEB4}"/>
              </a:ext>
            </a:extLst>
          </p:cNvPr>
          <p:cNvSpPr txBox="1"/>
          <p:nvPr/>
        </p:nvSpPr>
        <p:spPr>
          <a:xfrm>
            <a:off x="922946" y="1690688"/>
            <a:ext cx="10083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 временной области дискретный «скользящий фильтр с окном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 - усредняет значения функции по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ближайшим точкам. Чем больше окно – тем более «сглаженным» получается результат.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923E76E-A1DF-FFCA-DDA1-9BA1265FC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46" y="2371638"/>
            <a:ext cx="1866900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2F09247-2588-0033-59C1-6E692D481E80}"/>
              </a:ext>
            </a:extLst>
          </p:cNvPr>
          <p:cNvSpPr txBox="1"/>
          <p:nvPr/>
        </p:nvSpPr>
        <p:spPr>
          <a:xfrm>
            <a:off x="922946" y="3668734"/>
            <a:ext cx="10186587" cy="1915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понимания линейной фильтрации в частотной области – не получится обойтись без привлечения понятия «</a:t>
            </a:r>
            <a:r>
              <a:rPr lang="ru-RU" sz="1800" i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импульсной характеристики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 фильтра, т.е. его реакции на дельта-функцию Дирака в непрерывном случае или «единичный импульс» - в дискретном.</a:t>
            </a: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Представим, что исходный сигнал – это импульс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[0,1, 0, 0, 0,..]. Подадим его на фильтр, выполняющий усреднение 3-х ближайших соседних точек. Получим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=[1/3, 1/3, 1/3, 0, 0,..] – это и есть «</a:t>
            </a:r>
            <a:r>
              <a:rPr lang="ru-RU" sz="1800" i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импульсная характеристика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 дискретного фильтра.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303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C29F473-2039-5868-B381-8F10A8DD4EB2}"/>
              </a:ext>
            </a:extLst>
          </p:cNvPr>
          <p:cNvSpPr txBox="1"/>
          <p:nvPr/>
        </p:nvSpPr>
        <p:spPr>
          <a:xfrm>
            <a:off x="1535185" y="165263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D3603452-0AAC-3A82-4EE8-FE6598648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1" y="402374"/>
            <a:ext cx="8420100" cy="61921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46827A6-6456-CB40-10A5-FCD31CBCE1D4}"/>
              </a:ext>
            </a:extLst>
          </p:cNvPr>
          <p:cNvSpPr txBox="1"/>
          <p:nvPr/>
        </p:nvSpPr>
        <p:spPr>
          <a:xfrm>
            <a:off x="7496175" y="657225"/>
            <a:ext cx="242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Программа на </a:t>
            </a:r>
            <a:r>
              <a:rPr lang="en-US" dirty="0"/>
              <a:t>MATLAB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9261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F2443461-5C0C-C547-86D9-4D5C6DCCB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04" y="1685170"/>
            <a:ext cx="4015105" cy="195072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45AEB661-1816-052B-8A13-0BEAB2125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04" y="4197470"/>
            <a:ext cx="3911600" cy="188785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EBB0452-868B-6A90-6CA9-111B60C24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825" y="411996"/>
            <a:ext cx="2873375" cy="13931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0FCCCC1-B859-43BB-0299-C235C5FBC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430" y="2091054"/>
            <a:ext cx="2858770" cy="13893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0E84B3EC-D0E1-EDCE-A5AD-EDA815DBA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0" y="4347845"/>
            <a:ext cx="4171950" cy="2027555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01784BF3-D138-7992-35C6-5619AB1BE181}"/>
              </a:ext>
            </a:extLst>
          </p:cNvPr>
          <p:cNvCxnSpPr/>
          <p:nvPr/>
        </p:nvCxnSpPr>
        <p:spPr>
          <a:xfrm>
            <a:off x="5588000" y="457200"/>
            <a:ext cx="0" cy="591820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B9D7A31-E091-E35B-4AFC-BC69AF445E59}"/>
              </a:ext>
            </a:extLst>
          </p:cNvPr>
          <p:cNvSpPr txBox="1"/>
          <p:nvPr/>
        </p:nvSpPr>
        <p:spPr>
          <a:xfrm>
            <a:off x="1066800" y="923925"/>
            <a:ext cx="3192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Исходный сигнал и его спектр: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27F44CA1-65A1-105F-96D7-40676A4C9C31}"/>
                  </a:ext>
                </a:extLst>
              </p:cNvPr>
              <p:cNvSpPr txBox="1"/>
              <p:nvPr/>
            </p:nvSpPr>
            <p:spPr>
              <a:xfrm>
                <a:off x="6720836" y="856398"/>
                <a:ext cx="168781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𝑗𝑤</m:t>
                      </m:r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44CA1-65A1-105F-96D7-40676A4C9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836" y="856398"/>
                <a:ext cx="1687817" cy="2308324"/>
              </a:xfrm>
              <a:prstGeom prst="rect">
                <a:avLst/>
              </a:prstGeom>
              <a:blipFill>
                <a:blip r:embed="rId7"/>
                <a:stretch>
                  <a:fillRect b="-13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BCA6451-F899-421D-1082-20F2F8F3F0DD}"/>
              </a:ext>
            </a:extLst>
          </p:cNvPr>
          <p:cNvSpPr txBox="1"/>
          <p:nvPr/>
        </p:nvSpPr>
        <p:spPr>
          <a:xfrm>
            <a:off x="5688837" y="3821035"/>
            <a:ext cx="245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Результат фильтрации:</a:t>
            </a:r>
          </a:p>
        </p:txBody>
      </p:sp>
    </p:spTree>
    <p:extLst>
      <p:ext uri="{BB962C8B-B14F-4D97-AF65-F5344CB8AC3E}">
        <p14:creationId xmlns:p14="http://schemas.microsoft.com/office/powerpoint/2010/main" val="4159186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A3AD053-03F2-466A-96DE-EBCAEC71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473DCF1-965B-E1D3-B4C0-54F905BFCE98}"/>
              </a:ext>
            </a:extLst>
          </p:cNvPr>
          <p:cNvSpPr txBox="1"/>
          <p:nvPr/>
        </p:nvSpPr>
        <p:spPr>
          <a:xfrm>
            <a:off x="1114425" y="1933575"/>
            <a:ext cx="10382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ru-RU" dirty="0"/>
              <a:t>3</a:t>
            </a:r>
            <a:r>
              <a:rPr lang="en-US" dirty="0"/>
              <a:t>Blue1Brown</a:t>
            </a:r>
            <a:r>
              <a:rPr lang="ru-RU" dirty="0"/>
              <a:t> на русском, лекции «Сущность линейной алгебры», «Сущность матанализа»</a:t>
            </a:r>
          </a:p>
          <a:p>
            <a:pPr marL="342900" indent="-342900">
              <a:buAutoNum type="arabicParenR"/>
            </a:pPr>
            <a:r>
              <a:rPr lang="ru-RU" dirty="0"/>
              <a:t>С.И. Баскаков «РТ цепи и сигналы, руководство по решению задач»</a:t>
            </a:r>
          </a:p>
          <a:p>
            <a:pPr marL="342900" indent="-342900">
              <a:buAutoNum type="arabicParenR"/>
            </a:pPr>
            <a:r>
              <a:rPr lang="en-US" dirty="0"/>
              <a:t>Fundamental of Electric Circuits</a:t>
            </a:r>
            <a:endParaRPr lang="ru-RU" dirty="0"/>
          </a:p>
          <a:p>
            <a:pPr marL="342900" indent="-342900">
              <a:buAutoNum type="arabicParenR"/>
            </a:pPr>
            <a:r>
              <a:rPr lang="ru-RU" dirty="0"/>
              <a:t>Юкио Сато цифровая обработка сигналов</a:t>
            </a:r>
          </a:p>
          <a:p>
            <a:pPr marL="342900" indent="-342900">
              <a:buAutoNum type="arabicParenR"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C9E29D2-38C1-4FDE-0521-973864620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2" y="5186362"/>
            <a:ext cx="4924425" cy="86677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C4BF8C6-73B0-569E-52BC-8C6739E2D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12" y="3724097"/>
            <a:ext cx="21621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807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837</Words>
  <Application>Microsoft Office PowerPoint</Application>
  <PresentationFormat>Широкоэкранный</PresentationFormat>
  <Paragraphs>252</Paragraphs>
  <Slides>47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47</vt:i4>
      </vt:variant>
    </vt:vector>
  </HeadingPairs>
  <TitlesOfParts>
    <vt:vector size="59" baseType="lpstr">
      <vt:lpstr>-apple-system</vt:lpstr>
      <vt:lpstr>Arial</vt:lpstr>
      <vt:lpstr>Calibri</vt:lpstr>
      <vt:lpstr>Calibri Light</vt:lpstr>
      <vt:lpstr>Cambria Math</vt:lpstr>
      <vt:lpstr>KaTeX_Main</vt:lpstr>
      <vt:lpstr>KaTeX_Math</vt:lpstr>
      <vt:lpstr>Segoe UI</vt:lpstr>
      <vt:lpstr>system-ui</vt:lpstr>
      <vt:lpstr>Times New Roman</vt:lpstr>
      <vt:lpstr>Verdana</vt:lpstr>
      <vt:lpstr>Тема Office</vt:lpstr>
      <vt:lpstr>Лаб. 18 Пассивные электрические цепи</vt:lpstr>
      <vt:lpstr>Цели занятия</vt:lpstr>
      <vt:lpstr>Темы</vt:lpstr>
      <vt:lpstr>Мир сквозь «комплексные очки»</vt:lpstr>
      <vt:lpstr>Три лица одного числа</vt:lpstr>
      <vt:lpstr>Презентация PowerPoint</vt:lpstr>
      <vt:lpstr>Презентация PowerPoint</vt:lpstr>
      <vt:lpstr>Презентация PowerPoint</vt:lpstr>
      <vt:lpstr>Основная идея: представление сигнала элементом векторного пространства R^n</vt:lpstr>
      <vt:lpstr>R^2</vt:lpstr>
      <vt:lpstr>R^3</vt:lpstr>
      <vt:lpstr>R^N  → пространcтво функций</vt:lpstr>
      <vt:lpstr>Скалярное произведение</vt:lpstr>
      <vt:lpstr>Ортонормированный базис R^2</vt:lpstr>
      <vt:lpstr>Ортонормированный базис R^N</vt:lpstr>
      <vt:lpstr>Ортонормированный базис в ∁[a,b] </vt:lpstr>
      <vt:lpstr>Разложение в ряд Фурье</vt:lpstr>
      <vt:lpstr>Разложение в комплексный ряд Фурье</vt:lpstr>
      <vt:lpstr>Дискретное преобразование Фурье</vt:lpstr>
      <vt:lpstr>Спектр последовательности прямоугольных импульсов</vt:lpstr>
      <vt:lpstr>Примеры спектров послед. прямоугольных импульсов</vt:lpstr>
      <vt:lpstr>Переход к непериодическим сигналам</vt:lpstr>
      <vt:lpstr>Преобразование Фурье</vt:lpstr>
      <vt:lpstr>Преобразование Фурье</vt:lpstr>
      <vt:lpstr>Примеры ортогональных систем функций</vt:lpstr>
      <vt:lpstr>Преобразование Лапласа</vt:lpstr>
      <vt:lpstr>Преобразование Лапласа</vt:lpstr>
      <vt:lpstr>Преобразование Лапласа, пример</vt:lpstr>
      <vt:lpstr>Механика-электричество: одни и те же «качели»</vt:lpstr>
      <vt:lpstr>Как рождается передаточная функция</vt:lpstr>
      <vt:lpstr>Презентация PowerPoint</vt:lpstr>
      <vt:lpstr>От физики к импедансу</vt:lpstr>
      <vt:lpstr>Презентация PowerPoint</vt:lpstr>
      <vt:lpstr>Презентация PowerPoint</vt:lpstr>
      <vt:lpstr>Презентация PowerPoint</vt:lpstr>
      <vt:lpstr>Простейший фильтр</vt:lpstr>
      <vt:lpstr>RC-цепь: дифф. уравнение</vt:lpstr>
      <vt:lpstr>δ-функция и её спектр</vt:lpstr>
      <vt:lpstr>Интеграл свёртки, интеграл Дюамеля</vt:lpstr>
      <vt:lpstr>Переходная характеристика</vt:lpstr>
      <vt:lpstr>Нахождение импульсной характеристики и использование интеграла Дюамеля</vt:lpstr>
      <vt:lpstr>Связь между h(t) и H(s) </vt:lpstr>
      <vt:lpstr>Элементы цифровой фильтрации, blur</vt:lpstr>
      <vt:lpstr>Фильтр «скользящее среднее» (blur)</vt:lpstr>
      <vt:lpstr>Презентация PowerPoint</vt:lpstr>
      <vt:lpstr>Презентация PowerPoint</vt:lpstr>
      <vt:lpstr>Дополнительно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Лаб. 18 Пассивные электрические цепи</dc:title>
  <dc:creator>Oleg</dc:creator>
  <cp:lastModifiedBy>Oleg</cp:lastModifiedBy>
  <cp:revision>106</cp:revision>
  <dcterms:created xsi:type="dcterms:W3CDTF">2022-11-04T18:35:08Z</dcterms:created>
  <dcterms:modified xsi:type="dcterms:W3CDTF">2026-10-17T19:15:27Z</dcterms:modified>
</cp:coreProperties>
</file>